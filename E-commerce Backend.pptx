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987" autoAdjust="0"/>
    <p:restoredTop sz="94660"/>
  </p:normalViewPr>
  <p:slideViewPr>
    <p:cSldViewPr snapToGrid="0">
      <p:cViewPr varScale="1">
        <p:scale>
          <a:sx n="103" d="100"/>
          <a:sy n="103" d="100"/>
        </p:scale>
        <p:origin x="852" y="11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0" y="-8467"/>
            <a:ext cx="12192000" cy="6866467"/>
            <a:chOff x="0" y="-8467"/>
            <a:chExt cx="12192000" cy="6866467"/>
          </a:xfrm>
        </p:grpSpPr>
        <p:cxnSp>
          <p:nvCxnSpPr>
            <p:cNvPr id="32" name="Straight Connector 31"/>
            <p:cNvCxnSpPr/>
            <p:nvPr/>
          </p:nvCxnSpPr>
          <p:spPr>
            <a:xfrm>
              <a:off x="9371012" y="0"/>
              <a:ext cx="1219200" cy="6858000"/>
            </a:xfrm>
            <a:prstGeom prst="line">
              <a:avLst/>
            </a:prstGeom>
            <a:ln w="952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/>
            <p:cNvCxnSpPr/>
            <p:nvPr/>
          </p:nvCxnSpPr>
          <p:spPr>
            <a:xfrm flipH="1">
              <a:off x="7425267" y="3681413"/>
              <a:ext cx="4763558" cy="3176587"/>
            </a:xfrm>
            <a:prstGeom prst="line">
              <a:avLst/>
            </a:prstGeom>
            <a:ln w="9525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4" name="Rectangle 23"/>
            <p:cNvSpPr/>
            <p:nvPr/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l="l" t="t" r="r" b="b"/>
              <a:pathLst>
                <a:path w="3007349" h="6866467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6" name="Rectangle 25"/>
            <p:cNvSpPr/>
            <p:nvPr/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l="l" t="t" r="r" b="b"/>
              <a:pathLst>
                <a:path w="2573311" h="6866467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7" name="Isosceles Triangle 26"/>
            <p:cNvSpPr/>
            <p:nvPr/>
          </p:nvSpPr>
          <p:spPr>
            <a:xfrm>
              <a:off x="8932333" y="3048000"/>
              <a:ext cx="3259667" cy="3810000"/>
            </a:xfrm>
            <a:prstGeom prst="triangle">
              <a:avLst>
                <a:gd name="adj" fmla="val 100000"/>
              </a:avLst>
            </a:prstGeom>
            <a:solidFill>
              <a:schemeClr val="accent2">
                <a:alpha val="72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8" name="Rectangle 27"/>
            <p:cNvSpPr/>
            <p:nvPr/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l="l" t="t" r="r" b="b"/>
              <a:pathLst>
                <a:path w="2858013" h="6866467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9" name="Rectangle 28"/>
            <p:cNvSpPr/>
            <p:nvPr/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l="l" t="t" r="r" b="b"/>
              <a:pathLst>
                <a:path w="1290094" h="685800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30" name="Rectangle 29"/>
            <p:cNvSpPr/>
            <p:nvPr/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l="l" t="t" r="r" b="b"/>
              <a:pathLst>
                <a:path w="1249825" h="685800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6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31" name="Isosceles Triangle 30"/>
            <p:cNvSpPr/>
            <p:nvPr/>
          </p:nvSpPr>
          <p:spPr>
            <a:xfrm>
              <a:off x="10371666" y="3589867"/>
              <a:ext cx="1817159" cy="3268133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Isosceles Triangle 18"/>
            <p:cNvSpPr/>
            <p:nvPr/>
          </p:nvSpPr>
          <p:spPr>
            <a:xfrm rot="10800000">
              <a:off x="0" y="0"/>
              <a:ext cx="842596" cy="5666154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07067" y="2404534"/>
            <a:ext cx="7766936" cy="1646302"/>
          </a:xfrm>
        </p:spPr>
        <p:txBody>
          <a:bodyPr anchor="b">
            <a:noAutofit/>
          </a:bodyPr>
          <a:lstStyle>
            <a:lvl1pPr algn="r">
              <a:defRPr sz="5400">
                <a:solidFill>
                  <a:schemeClr val="accent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07067" y="4050833"/>
            <a:ext cx="7766936" cy="1096899"/>
          </a:xfrm>
        </p:spPr>
        <p:txBody>
          <a:bodyPr anchor="t"/>
          <a:lstStyle>
            <a:lvl1pPr marL="0" indent="0" algn="r">
              <a:buNone/>
              <a:defRPr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E92811D-EAFD-48AB-A0A5-3A5F242ACB66}" type="datetimeFigureOut">
              <a:rPr lang="en-GB" smtClean="0"/>
              <a:t>26/11/2025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3BEEDA-979A-4D6A-B405-6ED23DF7111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6571613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E92811D-EAFD-48AB-A0A5-3A5F242ACB66}" type="datetimeFigureOut">
              <a:rPr lang="en-GB" smtClean="0"/>
              <a:t>26/11/2025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3BEEDA-979A-4D6A-B405-6ED23DF7111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81562207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5" y="2700867"/>
            <a:ext cx="8596668" cy="1826581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860400"/>
          </a:xfrm>
        </p:spPr>
        <p:txBody>
          <a:bodyPr anchor="t"/>
          <a:lstStyle>
            <a:lvl1pPr marL="0" indent="0" algn="l">
              <a:buNone/>
              <a:defRPr sz="20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E92811D-EAFD-48AB-A0A5-3A5F242ACB66}" type="datetimeFigureOut">
              <a:rPr lang="en-GB" smtClean="0"/>
              <a:t>26/11/2025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3BEEDA-979A-4D6A-B405-6ED23DF7111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8377978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77334" y="2160589"/>
            <a:ext cx="4184035" cy="388077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089970" y="2160589"/>
            <a:ext cx="4184034" cy="388077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E92811D-EAFD-48AB-A0A5-3A5F242ACB66}" type="datetimeFigureOut">
              <a:rPr lang="en-GB" smtClean="0"/>
              <a:t>26/11/2025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3BEEDA-979A-4D6A-B405-6ED23DF7111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4491248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5745" y="2160983"/>
            <a:ext cx="4185623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75745" y="2737245"/>
            <a:ext cx="4185623" cy="3304117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088383" y="2160983"/>
            <a:ext cx="4185618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088384" y="2737245"/>
            <a:ext cx="4185617" cy="3304117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E92811D-EAFD-48AB-A0A5-3A5F242ACB66}" type="datetimeFigureOut">
              <a:rPr lang="en-GB" smtClean="0"/>
              <a:t>26/11/2025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3BEEDA-979A-4D6A-B405-6ED23DF7111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8519859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609600"/>
            <a:ext cx="8596668" cy="132080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E92811D-EAFD-48AB-A0A5-3A5F242ACB66}" type="datetimeFigureOut">
              <a:rPr lang="en-GB" smtClean="0"/>
              <a:t>26/11/2025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3BEEDA-979A-4D6A-B405-6ED23DF7111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1279339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E92811D-EAFD-48AB-A0A5-3A5F242ACB66}" type="datetimeFigureOut">
              <a:rPr lang="en-GB" smtClean="0"/>
              <a:t>26/11/2025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3BEEDA-979A-4D6A-B405-6ED23DF7111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7705187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1498604"/>
            <a:ext cx="3854528" cy="1278466"/>
          </a:xfrm>
        </p:spPr>
        <p:txBody>
          <a:bodyPr anchor="b">
            <a:normAutofit/>
          </a:bodyPr>
          <a:lstStyle>
            <a:lvl1pPr>
              <a:defRPr sz="2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0461" y="514924"/>
            <a:ext cx="4513541" cy="5526437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77334" y="2777069"/>
            <a:ext cx="3854528" cy="2584449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457063" indent="0">
              <a:buNone/>
              <a:defRPr sz="1400"/>
            </a:lvl2pPr>
            <a:lvl3pPr marL="914126" indent="0">
              <a:buNone/>
              <a:defRPr sz="1200"/>
            </a:lvl3pPr>
            <a:lvl4pPr marL="1371189" indent="0">
              <a:buNone/>
              <a:defRPr sz="1000"/>
            </a:lvl4pPr>
            <a:lvl5pPr marL="1828251" indent="0">
              <a:buNone/>
              <a:defRPr sz="1000"/>
            </a:lvl5pPr>
            <a:lvl6pPr marL="2285314" indent="0">
              <a:buNone/>
              <a:defRPr sz="1000"/>
            </a:lvl6pPr>
            <a:lvl7pPr marL="2742377" indent="0">
              <a:buNone/>
              <a:defRPr sz="1000"/>
            </a:lvl7pPr>
            <a:lvl8pPr marL="3199440" indent="0">
              <a:buNone/>
              <a:defRPr sz="1000"/>
            </a:lvl8pPr>
            <a:lvl9pPr marL="3656503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E92811D-EAFD-48AB-A0A5-3A5F242ACB66}" type="datetimeFigureOut">
              <a:rPr lang="en-GB" smtClean="0"/>
              <a:t>26/11/2025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3BEEDA-979A-4D6A-B405-6ED23DF7111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559113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4800600"/>
            <a:ext cx="8596667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77334" y="609600"/>
            <a:ext cx="8596668" cy="3845718"/>
          </a:xfrm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77334" y="5367338"/>
            <a:ext cx="8596667" cy="674024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E92811D-EAFD-48AB-A0A5-3A5F242ACB66}" type="datetimeFigureOut">
              <a:rPr lang="en-GB" smtClean="0"/>
              <a:t>26/11/2025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3BEEDA-979A-4D6A-B405-6ED23DF7111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6792873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5" y="609600"/>
            <a:ext cx="8596668" cy="3403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470400"/>
            <a:ext cx="8596668" cy="1570962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E92811D-EAFD-48AB-A0A5-3A5F242ACB66}" type="datetimeFigureOut">
              <a:rPr lang="en-GB" smtClean="0"/>
              <a:t>26/11/2025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3BEEDA-979A-4D6A-B405-6ED23DF7111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79822634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1334" y="609600"/>
            <a:ext cx="8094134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366139" y="3632200"/>
            <a:ext cx="7224524" cy="381000"/>
          </a:xfrm>
        </p:spPr>
        <p:txBody>
          <a:bodyPr anchor="ctr">
            <a:noAutofit/>
          </a:bodyPr>
          <a:lstStyle>
            <a:lvl1pPr marL="0" indent="0">
              <a:buFontTx/>
              <a:buNone/>
              <a:defRPr sz="16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470400"/>
            <a:ext cx="8596668" cy="1570962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E92811D-EAFD-48AB-A0A5-3A5F242ACB66}" type="datetimeFigureOut">
              <a:rPr lang="en-GB" smtClean="0"/>
              <a:t>26/11/2025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3BEEDA-979A-4D6A-B405-6ED23DF7111A}" type="slidenum">
              <a:rPr lang="en-GB" smtClean="0"/>
              <a:t>‹#›</a:t>
            </a:fld>
            <a:endParaRPr lang="en-GB"/>
          </a:p>
        </p:txBody>
      </p:sp>
      <p:sp>
        <p:nvSpPr>
          <p:cNvPr id="20" name="TextBox 19"/>
          <p:cNvSpPr txBox="1"/>
          <p:nvPr/>
        </p:nvSpPr>
        <p:spPr>
          <a:xfrm>
            <a:off x="541870" y="790378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893011" y="288655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latin typeface="Arial"/>
              </a:rPr>
              <a:t>”</a:t>
            </a:r>
            <a:endParaRPr lang="en-US" dirty="0">
              <a:solidFill>
                <a:schemeClr val="accent1">
                  <a:lumMod val="60000"/>
                  <a:lumOff val="40000"/>
                </a:schemeClr>
              </a:solidFill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2111280367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5" y="1931988"/>
            <a:ext cx="8596668" cy="2595460"/>
          </a:xfrm>
        </p:spPr>
        <p:txBody>
          <a:bodyPr anchor="b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E92811D-EAFD-48AB-A0A5-3A5F242ACB66}" type="datetimeFigureOut">
              <a:rPr lang="en-GB" smtClean="0"/>
              <a:t>26/11/2025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3BEEDA-979A-4D6A-B405-6ED23DF7111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86620822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1334" y="609600"/>
            <a:ext cx="8094134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677332" y="4013200"/>
            <a:ext cx="8596669" cy="514248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24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E92811D-EAFD-48AB-A0A5-3A5F242ACB66}" type="datetimeFigureOut">
              <a:rPr lang="en-GB" smtClean="0"/>
              <a:t>26/11/2025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3BEEDA-979A-4D6A-B405-6ED23DF7111A}" type="slidenum">
              <a:rPr lang="en-GB" smtClean="0"/>
              <a:t>‹#›</a:t>
            </a:fld>
            <a:endParaRPr lang="en-GB"/>
          </a:p>
        </p:txBody>
      </p:sp>
      <p:sp>
        <p:nvSpPr>
          <p:cNvPr id="24" name="TextBox 23"/>
          <p:cNvSpPr txBox="1"/>
          <p:nvPr/>
        </p:nvSpPr>
        <p:spPr>
          <a:xfrm>
            <a:off x="541870" y="790378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893011" y="288655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298059584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rue or Fals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799" y="609600"/>
            <a:ext cx="8588203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677332" y="4013200"/>
            <a:ext cx="8596669" cy="514248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2400">
                <a:solidFill>
                  <a:schemeClr val="accent1"/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E92811D-EAFD-48AB-A0A5-3A5F242ACB66}" type="datetimeFigureOut">
              <a:rPr lang="en-GB" smtClean="0"/>
              <a:t>26/11/2025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3BEEDA-979A-4D6A-B405-6ED23DF7111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643232826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E92811D-EAFD-48AB-A0A5-3A5F242ACB66}" type="datetimeFigureOut">
              <a:rPr lang="en-GB" smtClean="0"/>
              <a:t>26/11/2025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3BEEDA-979A-4D6A-B405-6ED23DF7111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9314400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7967673" y="609599"/>
            <a:ext cx="1304743" cy="5251451"/>
          </a:xfrm>
        </p:spPr>
        <p:txBody>
          <a:bodyPr vert="eaVert" anchor="ctr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77335" y="609600"/>
            <a:ext cx="7060150" cy="5251450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E92811D-EAFD-48AB-A0A5-3A5F242ACB66}" type="datetimeFigureOut">
              <a:rPr lang="en-GB" smtClean="0"/>
              <a:t>26/11/2025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3BEEDA-979A-4D6A-B405-6ED23DF7111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9436070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0" y="-8467"/>
            <a:ext cx="12192000" cy="6866467"/>
            <a:chOff x="0" y="-8467"/>
            <a:chExt cx="12192000" cy="6866467"/>
          </a:xfrm>
        </p:grpSpPr>
        <p:cxnSp>
          <p:nvCxnSpPr>
            <p:cNvPr id="20" name="Straight Connector 19"/>
            <p:cNvCxnSpPr/>
            <p:nvPr/>
          </p:nvCxnSpPr>
          <p:spPr>
            <a:xfrm>
              <a:off x="9371012" y="0"/>
              <a:ext cx="1219200" cy="6858000"/>
            </a:xfrm>
            <a:prstGeom prst="line">
              <a:avLst/>
            </a:prstGeom>
            <a:ln w="952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/>
            <p:cNvCxnSpPr/>
            <p:nvPr/>
          </p:nvCxnSpPr>
          <p:spPr>
            <a:xfrm flipH="1">
              <a:off x="7425267" y="3681413"/>
              <a:ext cx="4763558" cy="3176587"/>
            </a:xfrm>
            <a:prstGeom prst="line">
              <a:avLst/>
            </a:prstGeom>
            <a:ln w="9525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2" name="Rectangle 23"/>
            <p:cNvSpPr/>
            <p:nvPr/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l="l" t="t" r="r" b="b"/>
              <a:pathLst>
                <a:path w="3007349" h="6866467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3" name="Rectangle 25"/>
            <p:cNvSpPr/>
            <p:nvPr/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l="l" t="t" r="r" b="b"/>
              <a:pathLst>
                <a:path w="2573311" h="6866467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4" name="Isosceles Triangle 23"/>
            <p:cNvSpPr/>
            <p:nvPr/>
          </p:nvSpPr>
          <p:spPr>
            <a:xfrm>
              <a:off x="8932333" y="3048000"/>
              <a:ext cx="3259667" cy="3810000"/>
            </a:xfrm>
            <a:prstGeom prst="triangle">
              <a:avLst>
                <a:gd name="adj" fmla="val 100000"/>
              </a:avLst>
            </a:prstGeom>
            <a:solidFill>
              <a:schemeClr val="accent2">
                <a:alpha val="72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5" name="Rectangle 27"/>
            <p:cNvSpPr/>
            <p:nvPr/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l="l" t="t" r="r" b="b"/>
              <a:pathLst>
                <a:path w="2858013" h="6866467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6" name="Rectangle 28"/>
            <p:cNvSpPr/>
            <p:nvPr/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l="l" t="t" r="r" b="b"/>
              <a:pathLst>
                <a:path w="1290094" h="685800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7" name="Rectangle 29"/>
            <p:cNvSpPr/>
            <p:nvPr/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l="l" t="t" r="r" b="b"/>
              <a:pathLst>
                <a:path w="1249825" h="685800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6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8" name="Isosceles Triangle 27"/>
            <p:cNvSpPr/>
            <p:nvPr/>
          </p:nvSpPr>
          <p:spPr>
            <a:xfrm>
              <a:off x="10371666" y="3589867"/>
              <a:ext cx="1817159" cy="3268133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9" name="Isosceles Triangle 28"/>
            <p:cNvSpPr/>
            <p:nvPr/>
          </p:nvSpPr>
          <p:spPr>
            <a:xfrm>
              <a:off x="0" y="4013200"/>
              <a:ext cx="448733" cy="2844800"/>
            </a:xfrm>
            <a:prstGeom prst="triangle">
              <a:avLst>
                <a:gd name="adj" fmla="val 0"/>
              </a:avLst>
            </a:prstGeom>
            <a:solidFill>
              <a:schemeClr val="accent1">
                <a:alpha val="8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77334" y="609600"/>
            <a:ext cx="8596668" cy="132080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4" y="2160589"/>
            <a:ext cx="8596668" cy="388077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205133" y="6041362"/>
            <a:ext cx="91193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E92811D-EAFD-48AB-A0A5-3A5F242ACB66}" type="datetimeFigureOut">
              <a:rPr lang="en-GB" smtClean="0"/>
              <a:t>26/11/2025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677334" y="6041362"/>
            <a:ext cx="629761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590663" y="6041362"/>
            <a:ext cx="68333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accent1"/>
                </a:solidFill>
              </a:defRPr>
            </a:lvl1pPr>
          </a:lstStyle>
          <a:p>
            <a:fld id="{743BEEDA-979A-4D6A-B405-6ED23DF7111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4263848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  <p:sldLayoutId id="2147483674" r:id="rId14"/>
    <p:sldLayoutId id="2147483675" r:id="rId15"/>
    <p:sldLayoutId id="2147483676" r:id="rId16"/>
  </p:sldLayoutIdLst>
  <p:txStyles>
    <p:titleStyle>
      <a:lvl1pPr algn="l" defTabSz="457200" rtl="0" eaLnBrk="1" latinLnBrk="0" hangingPunct="1">
        <a:spcBef>
          <a:spcPct val="0"/>
        </a:spcBef>
        <a:buNone/>
        <a:defRPr sz="3600" kern="1200">
          <a:solidFill>
            <a:schemeClr val="accent1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42900" indent="-3429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8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6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EE3B292-6FBC-CE5F-6459-016C656099F5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E-commerce Backend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13652743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788CA6F-69D7-46C5-63FE-113BB918B7C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1. Approach the Requirement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AE04557-7B1A-4F16-935F-A26CE5B5893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dirty="0"/>
              <a:t>Step-by-step Development Process:</a:t>
            </a:r>
          </a:p>
          <a:p>
            <a:pPr>
              <a:buFont typeface="+mj-lt"/>
              <a:buAutoNum type="arabicPeriod"/>
            </a:pPr>
            <a:r>
              <a:rPr lang="en-GB" b="1" dirty="0"/>
              <a:t>Domain Modelling:</a:t>
            </a:r>
            <a:r>
              <a:rPr lang="en-GB" dirty="0"/>
              <a:t> Define core entities (Product, Category,…) with relationships</a:t>
            </a:r>
          </a:p>
          <a:p>
            <a:pPr>
              <a:buFont typeface="+mj-lt"/>
              <a:buAutoNum type="arabicPeriod"/>
            </a:pPr>
            <a:r>
              <a:rPr lang="en-GB" b="1" dirty="0"/>
              <a:t>API Design: </a:t>
            </a:r>
            <a:r>
              <a:rPr lang="en-GB" dirty="0"/>
              <a:t>RESTful endpoints following HTTP conventions</a:t>
            </a:r>
          </a:p>
          <a:p>
            <a:pPr>
              <a:buFont typeface="+mj-lt"/>
              <a:buAutoNum type="arabicPeriod"/>
            </a:pPr>
            <a:r>
              <a:rPr lang="en-GB" b="1" dirty="0"/>
              <a:t>Service Layer: </a:t>
            </a:r>
            <a:r>
              <a:rPr lang="en-GB" dirty="0"/>
              <a:t>Business logic encapsulation and data transformation</a:t>
            </a:r>
          </a:p>
          <a:p>
            <a:pPr>
              <a:buFont typeface="+mj-lt"/>
              <a:buAutoNum type="arabicPeriod"/>
            </a:pPr>
            <a:r>
              <a:rPr lang="en-GB" b="1" dirty="0"/>
              <a:t>Data Access: </a:t>
            </a:r>
            <a:r>
              <a:rPr lang="en-GB" dirty="0"/>
              <a:t>EF Core context with query optimization</a:t>
            </a:r>
          </a:p>
          <a:p>
            <a:pPr>
              <a:buFont typeface="+mj-lt"/>
              <a:buAutoNum type="arabicPeriod"/>
            </a:pPr>
            <a:r>
              <a:rPr lang="en-GB" b="1" dirty="0"/>
              <a:t>Validation: </a:t>
            </a:r>
            <a:r>
              <a:rPr lang="en-GB" dirty="0" err="1"/>
              <a:t>FluentValidation</a:t>
            </a:r>
            <a:r>
              <a:rPr lang="en-GB" dirty="0"/>
              <a:t> for input/output validation</a:t>
            </a:r>
          </a:p>
          <a:p>
            <a:pPr>
              <a:buFont typeface="+mj-lt"/>
              <a:buAutoNum type="arabicPeriod"/>
            </a:pPr>
            <a:r>
              <a:rPr lang="en-GB" b="1" dirty="0"/>
              <a:t>Performance:</a:t>
            </a:r>
            <a:r>
              <a:rPr lang="en-GB" dirty="0"/>
              <a:t> Caching layer and database query optimization</a:t>
            </a:r>
          </a:p>
          <a:p>
            <a:pPr>
              <a:buFont typeface="+mj-lt"/>
              <a:buAutoNum type="arabicPeriod"/>
            </a:pPr>
            <a:r>
              <a:rPr lang="en-GB" b="1" dirty="0"/>
              <a:t>Infrastructure: </a:t>
            </a:r>
            <a:r>
              <a:rPr lang="en-GB" dirty="0"/>
              <a:t>Dependency injection and middleware configuration</a:t>
            </a:r>
          </a:p>
        </p:txBody>
      </p:sp>
    </p:spTree>
    <p:extLst>
      <p:ext uri="{BB962C8B-B14F-4D97-AF65-F5344CB8AC3E}">
        <p14:creationId xmlns:p14="http://schemas.microsoft.com/office/powerpoint/2010/main" val="141664109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73E10A7-4E99-5EC0-773F-8693B8690E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BA036CB-7372-F99D-4BBE-0B9F4CED1C0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1. Approach the Requirement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DDF921F-79DF-7992-7279-ED8AAF9B6B1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Key Principles Implemented</a:t>
            </a:r>
          </a:p>
          <a:p>
            <a:r>
              <a:rPr lang="en-US" b="1" dirty="0"/>
              <a:t>SOLID Principles</a:t>
            </a:r>
          </a:p>
          <a:p>
            <a:r>
              <a:rPr lang="en-US" b="1" dirty="0"/>
              <a:t>DRY (Don't Repeat Yourself): </a:t>
            </a:r>
            <a:r>
              <a:rPr lang="en-US" dirty="0"/>
              <a:t>Shared DTOs, validators, and filters</a:t>
            </a:r>
          </a:p>
          <a:p>
            <a:r>
              <a:rPr lang="en-US" b="1" dirty="0"/>
              <a:t>Dependency Injection: </a:t>
            </a:r>
            <a:r>
              <a:rPr lang="en-US" dirty="0"/>
              <a:t>Constructor-based DI for loose coupling</a:t>
            </a:r>
          </a:p>
          <a:p>
            <a:r>
              <a:rPr lang="en-US" b="1" dirty="0"/>
              <a:t>Async/Await: </a:t>
            </a:r>
            <a:r>
              <a:rPr lang="en-US" dirty="0"/>
              <a:t>Non-blocking I/O operations throughout</a:t>
            </a:r>
          </a:p>
        </p:txBody>
      </p:sp>
    </p:spTree>
    <p:extLst>
      <p:ext uri="{BB962C8B-B14F-4D97-AF65-F5344CB8AC3E}">
        <p14:creationId xmlns:p14="http://schemas.microsoft.com/office/powerpoint/2010/main" val="119603033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DDF05F1-6210-4263-C10E-54D04698758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8944C9F-9B94-3DCF-EDB2-55D9073BABB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2. Database Design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223A022-ABEA-73AA-6934-903A77A659C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dirty="0"/>
              <a:t>Database Choice: PostgreSQL (Production) + In-Memory (Demonstration)</a:t>
            </a:r>
          </a:p>
          <a:p>
            <a:pPr marL="0" indent="0">
              <a:buNone/>
            </a:pPr>
            <a:r>
              <a:rPr lang="en-US" dirty="0"/>
              <a:t>Rationale for PostgreSQL:</a:t>
            </a:r>
          </a:p>
          <a:p>
            <a:r>
              <a:rPr lang="en-GB" b="1" dirty="0"/>
              <a:t>Data Integrity: </a:t>
            </a:r>
            <a:r>
              <a:rPr lang="en-GB" dirty="0"/>
              <a:t>ACID compliance ensures reliable transactions</a:t>
            </a:r>
          </a:p>
          <a:p>
            <a:r>
              <a:rPr lang="en-GB" b="1" dirty="0"/>
              <a:t>Scalability:</a:t>
            </a:r>
            <a:r>
              <a:rPr lang="en-GB" dirty="0"/>
              <a:t> Handles large datasets efficiently with proper indexing</a:t>
            </a:r>
          </a:p>
          <a:p>
            <a:r>
              <a:rPr lang="en-GB" b="1" dirty="0"/>
              <a:t>Relationships:</a:t>
            </a:r>
            <a:r>
              <a:rPr lang="en-GB" dirty="0"/>
              <a:t> Excellent support for complex object-relational structures</a:t>
            </a:r>
          </a:p>
          <a:p>
            <a:r>
              <a:rPr lang="en-GB" b="1" dirty="0"/>
              <a:t>Open Source: </a:t>
            </a:r>
            <a:r>
              <a:rPr lang="en-GB" dirty="0"/>
              <a:t>Cost-effective with strong community support</a:t>
            </a:r>
          </a:p>
          <a:p>
            <a:r>
              <a:rPr lang="en-GB" b="1" dirty="0"/>
              <a:t>Performance:</a:t>
            </a:r>
            <a:r>
              <a:rPr lang="en-GB" dirty="0"/>
              <a:t> Native JSON support, advanced query optimization</a:t>
            </a:r>
          </a:p>
          <a:p>
            <a:r>
              <a:rPr lang="en-GB" b="1" dirty="0"/>
              <a:t>Production-Ready:</a:t>
            </a:r>
            <a:r>
              <a:rPr lang="en-GB" dirty="0"/>
              <a:t> Battle-tested in enterprise environments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3235654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73DA28A-B0C0-AA15-D126-EBB2D369968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6B844B-FDA7-26D1-8E38-3AB4230B452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7334" y="609600"/>
            <a:ext cx="8596668" cy="699247"/>
          </a:xfrm>
        </p:spPr>
        <p:txBody>
          <a:bodyPr/>
          <a:lstStyle/>
          <a:p>
            <a:r>
              <a:rPr lang="en-GB" dirty="0"/>
              <a:t>2. Database Design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4718F9A-4F70-0499-8FC7-3323E9188EE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77334" y="1407460"/>
            <a:ext cx="8596668" cy="457200"/>
          </a:xfrm>
        </p:spPr>
        <p:txBody>
          <a:bodyPr/>
          <a:lstStyle/>
          <a:p>
            <a:pPr marL="0" indent="0">
              <a:buNone/>
            </a:pPr>
            <a:r>
              <a:rPr lang="en-US" dirty="0"/>
              <a:t>Database Schema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8A0DEAD5-42FB-0C94-816E-0EDE734B523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77333" y="1864660"/>
            <a:ext cx="8429325" cy="46875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7613637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2956188-D915-B17A-256C-EEA48606247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7BCF7C6-CC1C-FE5F-9E28-89C73766E07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2. Database Design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82D9866-EB0A-02B7-5CC2-99AABDFA956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GB" dirty="0"/>
              <a:t>Design Features Supporting Extensibility</a:t>
            </a:r>
            <a:r>
              <a:rPr lang="en-US" dirty="0"/>
              <a:t>:</a:t>
            </a:r>
          </a:p>
          <a:p>
            <a:pPr>
              <a:buFont typeface="+mj-lt"/>
              <a:buAutoNum type="arabicPeriod"/>
            </a:pPr>
            <a:r>
              <a:rPr lang="en-GB" b="1" dirty="0"/>
              <a:t>Global Query Filters:</a:t>
            </a:r>
            <a:r>
              <a:rPr lang="en-GB" dirty="0"/>
              <a:t> Active record pattern</a:t>
            </a:r>
          </a:p>
          <a:p>
            <a:pPr>
              <a:buFont typeface="+mj-lt"/>
              <a:buAutoNum type="arabicPeriod"/>
            </a:pPr>
            <a:r>
              <a:rPr lang="en-GB" b="1" dirty="0"/>
              <a:t>Soft Delete Support: </a:t>
            </a:r>
            <a:r>
              <a:rPr lang="en-GB" i="1" dirty="0" err="1">
                <a:solidFill>
                  <a:schemeClr val="bg2">
                    <a:lumMod val="50000"/>
                  </a:schemeClr>
                </a:solidFill>
              </a:rPr>
              <a:t>is_active</a:t>
            </a:r>
            <a:r>
              <a:rPr lang="en-GB" dirty="0"/>
              <a:t> field allows logical deletion without data loss</a:t>
            </a:r>
          </a:p>
          <a:p>
            <a:pPr>
              <a:buFont typeface="+mj-lt"/>
              <a:buAutoNum type="arabicPeriod"/>
            </a:pPr>
            <a:r>
              <a:rPr lang="en-GB" b="1" dirty="0"/>
              <a:t>Audit Trail: </a:t>
            </a:r>
            <a:r>
              <a:rPr lang="en-GB" i="1" dirty="0" err="1">
                <a:solidFill>
                  <a:schemeClr val="bg2">
                    <a:lumMod val="50000"/>
                  </a:schemeClr>
                </a:solidFill>
              </a:rPr>
              <a:t>created_at</a:t>
            </a:r>
            <a:r>
              <a:rPr lang="en-GB" i="1" dirty="0">
                <a:solidFill>
                  <a:schemeClr val="bg2">
                    <a:lumMod val="50000"/>
                  </a:schemeClr>
                </a:solidFill>
              </a:rPr>
              <a:t> </a:t>
            </a:r>
            <a:r>
              <a:rPr lang="en-GB" dirty="0"/>
              <a:t>and </a:t>
            </a:r>
            <a:r>
              <a:rPr lang="en-GB" i="1" dirty="0" err="1">
                <a:solidFill>
                  <a:schemeClr val="bg2">
                    <a:lumMod val="50000"/>
                  </a:schemeClr>
                </a:solidFill>
              </a:rPr>
              <a:t>updated_at</a:t>
            </a:r>
            <a:r>
              <a:rPr lang="en-GB" dirty="0"/>
              <a:t> timestamps track changes</a:t>
            </a:r>
          </a:p>
          <a:p>
            <a:pPr>
              <a:buFont typeface="+mj-lt"/>
              <a:buAutoNum type="arabicPeriod"/>
            </a:pPr>
            <a:r>
              <a:rPr lang="en-GB" b="1" dirty="0"/>
              <a:t>Extensible Entity Structure: </a:t>
            </a:r>
            <a:r>
              <a:rPr lang="en-GB" dirty="0"/>
              <a:t>Product entity architecture ready for (commented out for simplicity):</a:t>
            </a:r>
          </a:p>
          <a:p>
            <a:pPr marL="800100" lvl="2" indent="0">
              <a:buNone/>
            </a:pPr>
            <a:r>
              <a:rPr lang="en-GB" b="1" dirty="0" err="1"/>
              <a:t>ProductAttributes</a:t>
            </a:r>
            <a:r>
              <a:rPr lang="en-GB" b="1" dirty="0"/>
              <a:t>:</a:t>
            </a:r>
            <a:r>
              <a:rPr lang="en-GB" dirty="0"/>
              <a:t> Additional product features</a:t>
            </a:r>
          </a:p>
          <a:p>
            <a:pPr marL="800100" lvl="2" indent="0">
              <a:buNone/>
            </a:pPr>
            <a:r>
              <a:rPr lang="en-GB" b="1" dirty="0" err="1"/>
              <a:t>ProductVariants</a:t>
            </a:r>
            <a:r>
              <a:rPr lang="en-GB" b="1" dirty="0"/>
              <a:t>:</a:t>
            </a:r>
            <a:r>
              <a:rPr lang="en-GB" dirty="0"/>
              <a:t> Size, </a:t>
            </a:r>
            <a:r>
              <a:rPr lang="en-GB" dirty="0" err="1"/>
              <a:t>color</a:t>
            </a:r>
            <a:r>
              <a:rPr lang="en-GB" dirty="0"/>
              <a:t>, stock level variants</a:t>
            </a:r>
          </a:p>
        </p:txBody>
      </p:sp>
    </p:spTree>
    <p:extLst>
      <p:ext uri="{BB962C8B-B14F-4D97-AF65-F5344CB8AC3E}">
        <p14:creationId xmlns:p14="http://schemas.microsoft.com/office/powerpoint/2010/main" val="110635231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6BFD842-F55D-B513-9DCB-B84D321B413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8A1623B-0FB0-3EE8-E0C2-CF78F692AE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3. Technology Stack Components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0B4FADC-0FDB-8110-A1F3-E1AEDD78994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GB" b="1" dirty="0"/>
              <a:t>Core Framework: </a:t>
            </a:r>
            <a:r>
              <a:rPr lang="en-GB" dirty="0"/>
              <a:t>.NET 8.0 - Modern language features and improved performance</a:t>
            </a:r>
          </a:p>
          <a:p>
            <a:r>
              <a:rPr lang="en-GB" b="1" dirty="0"/>
              <a:t>Data Access &amp; ORM: </a:t>
            </a:r>
          </a:p>
          <a:p>
            <a:pPr lvl="1"/>
            <a:r>
              <a:rPr lang="en-GB" b="1" dirty="0" err="1"/>
              <a:t>EntityFramework</a:t>
            </a:r>
            <a:r>
              <a:rPr lang="en-GB" b="1" dirty="0"/>
              <a:t> Core 9.0.11:</a:t>
            </a:r>
            <a:r>
              <a:rPr lang="en-GB" dirty="0"/>
              <a:t>	 ORM for database access</a:t>
            </a:r>
          </a:p>
          <a:p>
            <a:pPr lvl="1"/>
            <a:r>
              <a:rPr lang="en-GB" b="1" dirty="0" err="1"/>
              <a:t>Npgsql</a:t>
            </a:r>
            <a:r>
              <a:rPr lang="en-GB" b="1" dirty="0"/>
              <a:t> EF Core 9.0.4:</a:t>
            </a:r>
            <a:r>
              <a:rPr lang="en-GB" dirty="0"/>
              <a:t> PostgreSQL provider for EF Core</a:t>
            </a:r>
          </a:p>
          <a:p>
            <a:pPr lvl="1"/>
            <a:r>
              <a:rPr lang="en-GB" b="1" dirty="0"/>
              <a:t>EF Core </a:t>
            </a:r>
            <a:r>
              <a:rPr lang="en-GB" b="1" dirty="0" err="1"/>
              <a:t>InMemory</a:t>
            </a:r>
            <a:r>
              <a:rPr lang="en-GB" b="1" dirty="0"/>
              <a:t> 9.0.11: </a:t>
            </a:r>
            <a:r>
              <a:rPr lang="en-GB" dirty="0"/>
              <a:t>Development/testing database</a:t>
            </a:r>
          </a:p>
          <a:p>
            <a:r>
              <a:rPr lang="en-GB" b="1" dirty="0"/>
              <a:t>Validation Framework: </a:t>
            </a:r>
            <a:r>
              <a:rPr lang="en-GB" dirty="0" err="1"/>
              <a:t>FluentValidation</a:t>
            </a:r>
            <a:r>
              <a:rPr lang="en-GB" dirty="0"/>
              <a:t> 12.1.0</a:t>
            </a:r>
          </a:p>
          <a:p>
            <a:r>
              <a:rPr lang="en-GB" b="1" dirty="0"/>
              <a:t>Caching Strategy: </a:t>
            </a:r>
            <a:r>
              <a:rPr lang="en-GB" dirty="0" err="1"/>
              <a:t>StackExchange.Redis</a:t>
            </a:r>
            <a:r>
              <a:rPr lang="en-GB" dirty="0"/>
              <a:t> 2.10.1</a:t>
            </a:r>
          </a:p>
          <a:p>
            <a:r>
              <a:rPr lang="en-GB" b="1" dirty="0"/>
              <a:t>API Documentation: </a:t>
            </a:r>
            <a:r>
              <a:rPr lang="en-GB" dirty="0" err="1"/>
              <a:t>Swashbuckle.AspNetCore</a:t>
            </a:r>
            <a:r>
              <a:rPr lang="en-GB" dirty="0"/>
              <a:t> 6.6.2</a:t>
            </a:r>
          </a:p>
        </p:txBody>
      </p:sp>
    </p:spTree>
    <p:extLst>
      <p:ext uri="{BB962C8B-B14F-4D97-AF65-F5344CB8AC3E}">
        <p14:creationId xmlns:p14="http://schemas.microsoft.com/office/powerpoint/2010/main" val="174831628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252AC86-041B-F984-CBD7-A6DBC2933C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246D946-06A4-A18F-E9FE-FFC54ED11C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4. API and Data Handling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0FBDE87-5EFA-6E4F-72D2-447116CAF27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GB" b="1" dirty="0"/>
              <a:t>API Design Philosophy:</a:t>
            </a:r>
          </a:p>
          <a:p>
            <a:r>
              <a:rPr lang="en-GB" b="1" dirty="0"/>
              <a:t>RESTful Architecture: </a:t>
            </a:r>
            <a:r>
              <a:rPr lang="en-GB" dirty="0"/>
              <a:t>Resource-oriented design</a:t>
            </a:r>
          </a:p>
          <a:p>
            <a:r>
              <a:rPr lang="en-GB" b="1" dirty="0"/>
              <a:t>HTTP Semantics: </a:t>
            </a:r>
            <a:r>
              <a:rPr lang="en-GB" dirty="0"/>
              <a:t>Proper status codes and methods</a:t>
            </a:r>
          </a:p>
          <a:p>
            <a:r>
              <a:rPr lang="en-GB" b="1" dirty="0"/>
              <a:t>JSON Standard: </a:t>
            </a:r>
            <a:r>
              <a:rPr lang="en-GB" dirty="0"/>
              <a:t>Request/response format</a:t>
            </a:r>
          </a:p>
          <a:p>
            <a:r>
              <a:rPr lang="en-GB" b="1" dirty="0"/>
              <a:t>Pagination: </a:t>
            </a:r>
            <a:r>
              <a:rPr lang="en-GB" dirty="0"/>
              <a:t>Efficient data retrieval for large datasets</a:t>
            </a:r>
          </a:p>
        </p:txBody>
      </p:sp>
    </p:spTree>
    <p:extLst>
      <p:ext uri="{BB962C8B-B14F-4D97-AF65-F5344CB8AC3E}">
        <p14:creationId xmlns:p14="http://schemas.microsoft.com/office/powerpoint/2010/main" val="317584769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D64065C-A411-4085-997E-1989090808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E79C36-940D-2200-5236-B1497E193F7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4. API and Data Handling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11E60C7-1887-30B2-A2F8-C73CEC3248C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77334" y="1559859"/>
            <a:ext cx="8596668" cy="4894729"/>
          </a:xfrm>
        </p:spPr>
        <p:txBody>
          <a:bodyPr>
            <a:normAutofit/>
          </a:bodyPr>
          <a:lstStyle/>
          <a:p>
            <a:r>
              <a:rPr lang="en-GB" b="1" dirty="0"/>
              <a:t>Products API</a:t>
            </a:r>
          </a:p>
          <a:p>
            <a:pPr lvl="1"/>
            <a:r>
              <a:rPr lang="en-GB" b="1" dirty="0"/>
              <a:t>List Products (Paginated)</a:t>
            </a:r>
            <a:endParaRPr lang="en-GB" dirty="0"/>
          </a:p>
          <a:p>
            <a:pPr lvl="2"/>
            <a:r>
              <a:rPr lang="en-GB" dirty="0"/>
              <a:t>GET /</a:t>
            </a:r>
            <a:r>
              <a:rPr lang="en-GB" dirty="0" err="1"/>
              <a:t>api</a:t>
            </a:r>
            <a:r>
              <a:rPr lang="en-GB" dirty="0"/>
              <a:t>/</a:t>
            </a:r>
            <a:r>
              <a:rPr lang="en-GB" dirty="0" err="1"/>
              <a:t>products?searchTerm</a:t>
            </a:r>
            <a:r>
              <a:rPr lang="en-GB" dirty="0"/>
              <a:t>={term}&amp;</a:t>
            </a:r>
            <a:r>
              <a:rPr lang="en-GB" dirty="0" err="1"/>
              <a:t>pageNumber</a:t>
            </a:r>
            <a:r>
              <a:rPr lang="en-GB" dirty="0"/>
              <a:t>={number}&amp;</a:t>
            </a:r>
            <a:r>
              <a:rPr lang="en-GB" dirty="0" err="1"/>
              <a:t>pageSize</a:t>
            </a:r>
            <a:r>
              <a:rPr lang="en-GB" dirty="0"/>
              <a:t>={size}</a:t>
            </a:r>
          </a:p>
          <a:p>
            <a:pPr lvl="2"/>
            <a:r>
              <a:rPr lang="en-GB" dirty="0"/>
              <a:t>Response: 200 OK with </a:t>
            </a:r>
            <a:r>
              <a:rPr lang="en-GB" dirty="0" err="1"/>
              <a:t>PagedList</a:t>
            </a:r>
            <a:r>
              <a:rPr lang="en-GB" dirty="0"/>
              <a:t>&lt;</a:t>
            </a:r>
            <a:r>
              <a:rPr lang="en-GB" dirty="0" err="1"/>
              <a:t>ProductDto</a:t>
            </a:r>
            <a:r>
              <a:rPr lang="en-GB" dirty="0"/>
              <a:t>&gt;</a:t>
            </a:r>
          </a:p>
          <a:p>
            <a:pPr lvl="1"/>
            <a:r>
              <a:rPr lang="en-GB" b="1" dirty="0"/>
              <a:t>Get Product Details</a:t>
            </a:r>
            <a:endParaRPr lang="en-GB" dirty="0"/>
          </a:p>
          <a:p>
            <a:pPr lvl="2"/>
            <a:r>
              <a:rPr lang="en-GB" dirty="0"/>
              <a:t>GET /</a:t>
            </a:r>
            <a:r>
              <a:rPr lang="en-GB" dirty="0" err="1"/>
              <a:t>api</a:t>
            </a:r>
            <a:r>
              <a:rPr lang="en-GB" dirty="0"/>
              <a:t>/products/{id}</a:t>
            </a:r>
          </a:p>
          <a:p>
            <a:pPr lvl="2"/>
            <a:r>
              <a:rPr lang="en-GB" dirty="0"/>
              <a:t>Response: </a:t>
            </a:r>
          </a:p>
          <a:p>
            <a:pPr lvl="3"/>
            <a:r>
              <a:rPr lang="en-GB" dirty="0"/>
              <a:t>200 OK with </a:t>
            </a:r>
            <a:r>
              <a:rPr lang="en-GB" dirty="0" err="1"/>
              <a:t>ProductDetailDto</a:t>
            </a:r>
            <a:r>
              <a:rPr lang="en-GB" dirty="0"/>
              <a:t> (includes category)</a:t>
            </a:r>
          </a:p>
          <a:p>
            <a:pPr lvl="3"/>
            <a:r>
              <a:rPr lang="en-GB" dirty="0"/>
              <a:t>404 Not Found if product doesn't exist</a:t>
            </a:r>
          </a:p>
          <a:p>
            <a:pPr lvl="1"/>
            <a:r>
              <a:rPr lang="en-GB" b="1" dirty="0"/>
              <a:t>Create Product</a:t>
            </a:r>
            <a:endParaRPr lang="en-GB" dirty="0"/>
          </a:p>
          <a:p>
            <a:pPr lvl="2"/>
            <a:r>
              <a:rPr lang="en-GB" dirty="0"/>
              <a:t>POST /</a:t>
            </a:r>
            <a:r>
              <a:rPr lang="en-GB" dirty="0" err="1"/>
              <a:t>api</a:t>
            </a:r>
            <a:r>
              <a:rPr lang="en-GB" dirty="0"/>
              <a:t>/products</a:t>
            </a:r>
          </a:p>
          <a:p>
            <a:pPr lvl="2"/>
            <a:r>
              <a:rPr lang="en-GB" dirty="0"/>
              <a:t>Content-Type: multipart/form-data</a:t>
            </a:r>
          </a:p>
          <a:p>
            <a:pPr lvl="2"/>
            <a:r>
              <a:rPr lang="en-GB" dirty="0"/>
              <a:t>Body: { name, description, </a:t>
            </a:r>
            <a:r>
              <a:rPr lang="en-GB" dirty="0" err="1"/>
              <a:t>basePrice</a:t>
            </a:r>
            <a:r>
              <a:rPr lang="en-GB" dirty="0"/>
              <a:t>, </a:t>
            </a:r>
            <a:r>
              <a:rPr lang="en-GB" dirty="0" err="1"/>
              <a:t>categoryId</a:t>
            </a:r>
            <a:r>
              <a:rPr lang="en-GB" dirty="0"/>
              <a:t>, image }</a:t>
            </a:r>
          </a:p>
          <a:p>
            <a:pPr lvl="2"/>
            <a:r>
              <a:rPr lang="en-GB" dirty="0"/>
              <a:t>Response: 201 Created with </a:t>
            </a:r>
            <a:r>
              <a:rPr lang="en-GB" dirty="0" err="1"/>
              <a:t>ProductDetailDto</a:t>
            </a:r>
            <a:endParaRPr lang="en-GB" dirty="0"/>
          </a:p>
          <a:p>
            <a:pPr lvl="1"/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763909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5EDA1DF-057B-DA24-6A2F-3A82708465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B2831A7-D68C-C6BC-2B3D-282D5D975F9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4. API and Data Handling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1A69F34-2E36-FA8B-9377-80E42EC7330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77334" y="1559859"/>
            <a:ext cx="8596668" cy="4481503"/>
          </a:xfrm>
        </p:spPr>
        <p:txBody>
          <a:bodyPr>
            <a:normAutofit fontScale="92500" lnSpcReduction="10000"/>
          </a:bodyPr>
          <a:lstStyle/>
          <a:p>
            <a:r>
              <a:rPr lang="en-GB" b="1" dirty="0"/>
              <a:t>Products API</a:t>
            </a:r>
          </a:p>
          <a:p>
            <a:pPr lvl="1"/>
            <a:r>
              <a:rPr lang="en-GB" b="1" dirty="0"/>
              <a:t>Update Product</a:t>
            </a:r>
            <a:endParaRPr lang="en-GB" dirty="0"/>
          </a:p>
          <a:p>
            <a:pPr lvl="2"/>
            <a:r>
              <a:rPr lang="en-GB" dirty="0"/>
              <a:t>PUT /</a:t>
            </a:r>
            <a:r>
              <a:rPr lang="en-GB" dirty="0" err="1"/>
              <a:t>api</a:t>
            </a:r>
            <a:r>
              <a:rPr lang="en-GB" dirty="0"/>
              <a:t>/products/{id}</a:t>
            </a:r>
          </a:p>
          <a:p>
            <a:pPr lvl="2"/>
            <a:r>
              <a:rPr lang="en-GB" dirty="0"/>
              <a:t>Content-Type: multipart/form-data</a:t>
            </a:r>
          </a:p>
          <a:p>
            <a:pPr lvl="2"/>
            <a:r>
              <a:rPr lang="en-GB" dirty="0"/>
              <a:t>Body: { name, description, </a:t>
            </a:r>
            <a:r>
              <a:rPr lang="en-GB" dirty="0" err="1"/>
              <a:t>basePrice</a:t>
            </a:r>
            <a:r>
              <a:rPr lang="en-GB" dirty="0"/>
              <a:t>, </a:t>
            </a:r>
            <a:r>
              <a:rPr lang="en-GB" dirty="0" err="1"/>
              <a:t>categoryId</a:t>
            </a:r>
            <a:r>
              <a:rPr lang="en-GB" dirty="0"/>
              <a:t>, image }</a:t>
            </a:r>
          </a:p>
          <a:p>
            <a:pPr lvl="2"/>
            <a:r>
              <a:rPr lang="en-GB" dirty="0"/>
              <a:t>Response: 200 OK with </a:t>
            </a:r>
            <a:r>
              <a:rPr lang="en-GB" dirty="0" err="1"/>
              <a:t>ProductDetailDto</a:t>
            </a:r>
            <a:endParaRPr lang="en-GB" dirty="0"/>
          </a:p>
          <a:p>
            <a:pPr lvl="1"/>
            <a:r>
              <a:rPr lang="en-GB" b="1" dirty="0"/>
              <a:t>Delete Product</a:t>
            </a:r>
            <a:endParaRPr lang="en-GB" dirty="0"/>
          </a:p>
          <a:p>
            <a:pPr lvl="2"/>
            <a:r>
              <a:rPr lang="en-GB" dirty="0"/>
              <a:t>DELETE /</a:t>
            </a:r>
            <a:r>
              <a:rPr lang="en-GB" dirty="0" err="1"/>
              <a:t>api</a:t>
            </a:r>
            <a:r>
              <a:rPr lang="en-GB" dirty="0"/>
              <a:t>/products/{id}</a:t>
            </a:r>
          </a:p>
          <a:p>
            <a:pPr lvl="2"/>
            <a:r>
              <a:rPr lang="en-GB" dirty="0"/>
              <a:t>Response: 204 No Content</a:t>
            </a:r>
          </a:p>
          <a:p>
            <a:r>
              <a:rPr lang="en-GB" b="1" dirty="0"/>
              <a:t>Categories API</a:t>
            </a:r>
          </a:p>
          <a:p>
            <a:pPr lvl="1"/>
            <a:r>
              <a:rPr lang="en-GB" b="1" dirty="0"/>
              <a:t>Create Category</a:t>
            </a:r>
            <a:endParaRPr lang="en-GB" dirty="0"/>
          </a:p>
          <a:p>
            <a:pPr lvl="2"/>
            <a:r>
              <a:rPr lang="en-GB" dirty="0"/>
              <a:t>POST /</a:t>
            </a:r>
            <a:r>
              <a:rPr lang="en-GB" dirty="0" err="1"/>
              <a:t>api</a:t>
            </a:r>
            <a:r>
              <a:rPr lang="en-GB" dirty="0"/>
              <a:t>/categories</a:t>
            </a:r>
          </a:p>
          <a:p>
            <a:pPr lvl="2"/>
            <a:r>
              <a:rPr lang="en-GB" dirty="0"/>
              <a:t>Body: { name, description }</a:t>
            </a:r>
          </a:p>
          <a:p>
            <a:pPr lvl="2"/>
            <a:r>
              <a:rPr lang="en-GB" dirty="0"/>
              <a:t>Response: 201 Created with </a:t>
            </a:r>
            <a:r>
              <a:rPr lang="en-GB" dirty="0" err="1"/>
              <a:t>CategoryDto</a:t>
            </a:r>
            <a:endParaRPr lang="en-GB" dirty="0"/>
          </a:p>
          <a:p>
            <a:endParaRPr lang="en-GB" dirty="0"/>
          </a:p>
          <a:p>
            <a:pPr lvl="1"/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420014054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F90F291-6208-26D5-A589-86747F4FE2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AF7C1C-1A0B-C85A-595F-A83E48FCFD7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4. API and Data Handling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9E97F99-5497-F5B2-99F8-C15071C6E67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GB" b="1" dirty="0"/>
              <a:t>Input Validation Process:</a:t>
            </a:r>
          </a:p>
          <a:p>
            <a:pPr>
              <a:buFont typeface="+mj-lt"/>
              <a:buAutoNum type="arabicPeriod"/>
            </a:pPr>
            <a:r>
              <a:rPr lang="en-GB" dirty="0"/>
              <a:t>HTTP Request arrives</a:t>
            </a:r>
          </a:p>
          <a:p>
            <a:pPr>
              <a:buFont typeface="+mj-lt"/>
              <a:buAutoNum type="arabicPeriod"/>
            </a:pPr>
            <a:r>
              <a:rPr lang="en-GB" dirty="0" err="1"/>
              <a:t>ValidationActionFilter</a:t>
            </a:r>
            <a:r>
              <a:rPr lang="en-GB" dirty="0"/>
              <a:t> intercepts</a:t>
            </a:r>
          </a:p>
          <a:p>
            <a:pPr>
              <a:buFont typeface="+mj-lt"/>
              <a:buAutoNum type="arabicPeriod"/>
            </a:pPr>
            <a:r>
              <a:rPr lang="en-GB" dirty="0"/>
              <a:t>Identifies request model type</a:t>
            </a:r>
          </a:p>
          <a:p>
            <a:pPr>
              <a:buFont typeface="+mj-lt"/>
              <a:buAutoNum type="arabicPeriod"/>
            </a:pPr>
            <a:r>
              <a:rPr lang="en-GB" dirty="0"/>
              <a:t>Retrieves matching validator from DI container</a:t>
            </a:r>
          </a:p>
          <a:p>
            <a:pPr>
              <a:buFont typeface="+mj-lt"/>
              <a:buAutoNum type="arabicPeriod"/>
            </a:pPr>
            <a:r>
              <a:rPr lang="en-GB" dirty="0"/>
              <a:t>Executes validation rules (sync + async)</a:t>
            </a:r>
          </a:p>
          <a:p>
            <a:pPr>
              <a:buFont typeface="+mj-lt"/>
              <a:buAutoNum type="arabicPeriod"/>
            </a:pPr>
            <a:r>
              <a:rPr lang="en-GB" dirty="0"/>
              <a:t>If invalid: Return 400 Bad Request with error details</a:t>
            </a:r>
          </a:p>
          <a:p>
            <a:pPr>
              <a:buFont typeface="+mj-lt"/>
              <a:buAutoNum type="arabicPeriod"/>
            </a:pPr>
            <a:r>
              <a:rPr lang="en-GB" dirty="0"/>
              <a:t>If valid: Pass to controller action</a:t>
            </a:r>
          </a:p>
        </p:txBody>
      </p:sp>
    </p:spTree>
    <p:extLst>
      <p:ext uri="{BB962C8B-B14F-4D97-AF65-F5344CB8AC3E}">
        <p14:creationId xmlns:p14="http://schemas.microsoft.com/office/powerpoint/2010/main" val="346176647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0371494-6EDA-13B1-4B97-DEDFC8D4DF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2ED3788-9E1C-C27B-935A-B4F37FA5C1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4. API and Data Handling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578C83D-BF63-9D9F-AAEC-6EA8FC4EB87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GB" b="1" dirty="0"/>
              <a:t>Output Data Processing:</a:t>
            </a:r>
          </a:p>
          <a:p>
            <a:pPr>
              <a:buFont typeface="+mj-lt"/>
              <a:buAutoNum type="arabicPeriod"/>
            </a:pPr>
            <a:r>
              <a:rPr lang="en-GB" b="1" dirty="0"/>
              <a:t>Query Execution:</a:t>
            </a:r>
            <a:r>
              <a:rPr lang="en-GB" dirty="0"/>
              <a:t> LINQ queries with filtering/pagination</a:t>
            </a:r>
          </a:p>
          <a:p>
            <a:pPr>
              <a:buFont typeface="+mj-lt"/>
              <a:buAutoNum type="arabicPeriod"/>
            </a:pPr>
            <a:r>
              <a:rPr lang="en-GB" b="1" dirty="0"/>
              <a:t>Inclusion: </a:t>
            </a:r>
            <a:r>
              <a:rPr lang="en-GB" dirty="0"/>
              <a:t>Eager loading with .Include()</a:t>
            </a:r>
          </a:p>
          <a:p>
            <a:pPr>
              <a:buFont typeface="+mj-lt"/>
              <a:buAutoNum type="arabicPeriod"/>
            </a:pPr>
            <a:r>
              <a:rPr lang="en-GB" b="1" dirty="0"/>
              <a:t>Image Encoding: </a:t>
            </a:r>
            <a:r>
              <a:rPr lang="en-GB" dirty="0"/>
              <a:t>Byte array → Base64 string</a:t>
            </a:r>
          </a:p>
          <a:p>
            <a:pPr>
              <a:buFont typeface="+mj-lt"/>
              <a:buAutoNum type="arabicPeriod"/>
            </a:pPr>
            <a:r>
              <a:rPr lang="en-GB" b="1" dirty="0"/>
              <a:t>DTO Mapping: </a:t>
            </a:r>
            <a:r>
              <a:rPr lang="en-GB" dirty="0"/>
              <a:t>Entity → DTO conversion</a:t>
            </a:r>
          </a:p>
          <a:p>
            <a:pPr>
              <a:buFont typeface="+mj-lt"/>
              <a:buAutoNum type="arabicPeriod"/>
            </a:pPr>
            <a:r>
              <a:rPr lang="en-GB" b="1" dirty="0"/>
              <a:t>Caching:</a:t>
            </a:r>
            <a:r>
              <a:rPr lang="en-GB" dirty="0"/>
              <a:t> Store in Redis for repeated access</a:t>
            </a:r>
          </a:p>
        </p:txBody>
      </p:sp>
    </p:spTree>
    <p:extLst>
      <p:ext uri="{BB962C8B-B14F-4D97-AF65-F5344CB8AC3E}">
        <p14:creationId xmlns:p14="http://schemas.microsoft.com/office/powerpoint/2010/main" val="192513191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BFEF4BE-DFC6-2CF9-77C9-2E3C331CB1F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991A6DA-E062-E413-700D-74737B6086C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5. Performance &amp; Scalability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F7A46EA-E6FA-6CFB-6FE9-DED2A673211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GB" b="1" dirty="0"/>
              <a:t>Caching Strategy:</a:t>
            </a:r>
            <a:endParaRPr lang="en-GB" dirty="0"/>
          </a:p>
          <a:p>
            <a:pPr lvl="1"/>
            <a:r>
              <a:rPr lang="en-GB" b="1" dirty="0"/>
              <a:t>Reduced Database Load: </a:t>
            </a:r>
            <a:r>
              <a:rPr lang="en-GB" dirty="0"/>
              <a:t>Frequently accessed products served from cache</a:t>
            </a:r>
          </a:p>
          <a:p>
            <a:pPr lvl="1"/>
            <a:r>
              <a:rPr lang="en-GB" b="1" dirty="0"/>
              <a:t>Faster Response Times:</a:t>
            </a:r>
            <a:r>
              <a:rPr lang="en-GB" dirty="0"/>
              <a:t> Redis in-memory lookup vs database query</a:t>
            </a:r>
          </a:p>
          <a:p>
            <a:pPr lvl="1"/>
            <a:r>
              <a:rPr lang="en-GB" b="1" dirty="0"/>
              <a:t>Scalability: </a:t>
            </a:r>
            <a:r>
              <a:rPr lang="en-GB" dirty="0"/>
              <a:t>Handles traffic spikes without database overload</a:t>
            </a:r>
          </a:p>
          <a:p>
            <a:pPr lvl="1"/>
            <a:r>
              <a:rPr lang="en-GB" b="1" dirty="0"/>
              <a:t>TTL Management: </a:t>
            </a:r>
            <a:r>
              <a:rPr lang="en-GB" dirty="0"/>
              <a:t>Automatic cache expiration (30 minutes)</a:t>
            </a:r>
          </a:p>
        </p:txBody>
      </p:sp>
    </p:spTree>
    <p:extLst>
      <p:ext uri="{BB962C8B-B14F-4D97-AF65-F5344CB8AC3E}">
        <p14:creationId xmlns:p14="http://schemas.microsoft.com/office/powerpoint/2010/main" val="318254809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34CCA54-9052-B52F-9FB8-181512F58E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E8DBDB9-AA13-32EB-5E08-2C0D2D0B26C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5. Performance &amp; Scalability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AD8D1CD-48C0-6F2C-0EF1-E163B6D633D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GB" b="1" dirty="0"/>
              <a:t>Database Query Optimization</a:t>
            </a:r>
          </a:p>
          <a:p>
            <a:r>
              <a:rPr lang="en-GB" b="1" dirty="0"/>
              <a:t>Pagination: </a:t>
            </a:r>
            <a:r>
              <a:rPr lang="en-GB" dirty="0"/>
              <a:t>Limits result set size</a:t>
            </a:r>
          </a:p>
          <a:p>
            <a:r>
              <a:rPr lang="en-GB" b="1" dirty="0"/>
              <a:t>Filtering</a:t>
            </a:r>
            <a:r>
              <a:rPr lang="en-GB" dirty="0"/>
              <a:t>: Server-side search term matching</a:t>
            </a:r>
          </a:p>
          <a:p>
            <a:r>
              <a:rPr lang="en-GB" b="1" dirty="0"/>
              <a:t>No-Tracking Queries: </a:t>
            </a:r>
            <a:r>
              <a:rPr lang="en-GB" dirty="0"/>
              <a:t>Reduced memory tracking</a:t>
            </a:r>
          </a:p>
          <a:p>
            <a:r>
              <a:rPr lang="en-GB" b="1" dirty="0"/>
              <a:t>Eager Loading: </a:t>
            </a:r>
            <a:r>
              <a:rPr lang="en-GB" dirty="0"/>
              <a:t>prevent N+1 problem</a:t>
            </a:r>
          </a:p>
          <a:p>
            <a:r>
              <a:rPr lang="en-GB" b="1" dirty="0"/>
              <a:t>Global Query Filters: </a:t>
            </a:r>
            <a:r>
              <a:rPr lang="en-GB" dirty="0"/>
              <a:t>Automatic active record filtering</a:t>
            </a:r>
          </a:p>
        </p:txBody>
      </p:sp>
    </p:spTree>
    <p:extLst>
      <p:ext uri="{BB962C8B-B14F-4D97-AF65-F5344CB8AC3E}">
        <p14:creationId xmlns:p14="http://schemas.microsoft.com/office/powerpoint/2010/main" val="284388403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D0B5D30-8A3A-F9E0-7E2C-2A52DAA182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5968253-EA1C-CB85-2BDB-D54DA386B59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6. </a:t>
            </a:r>
            <a:r>
              <a:rPr lang="en-GB" b="1" dirty="0"/>
              <a:t>Postman Collection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F97CDB8-EA4C-6808-E2CB-49F11253180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GB" dirty="0"/>
              <a:t>Please find file named “</a:t>
            </a:r>
            <a:r>
              <a:rPr lang="en-GB" b="1" dirty="0"/>
              <a:t>E-</a:t>
            </a:r>
            <a:r>
              <a:rPr lang="en-GB" b="1" dirty="0" err="1"/>
              <a:t>commerce.postman_collection.json</a:t>
            </a:r>
            <a:r>
              <a:rPr lang="en-GB" b="1" dirty="0"/>
              <a:t>”</a:t>
            </a:r>
            <a:r>
              <a:rPr lang="en-GB" b="1" i="1" dirty="0"/>
              <a:t> </a:t>
            </a:r>
            <a:r>
              <a:rPr lang="en-GB" dirty="0"/>
              <a:t>in root of this repository.</a:t>
            </a:r>
            <a:endParaRPr lang="en-GB" b="1" i="1" dirty="0"/>
          </a:p>
        </p:txBody>
      </p:sp>
    </p:spTree>
    <p:extLst>
      <p:ext uri="{BB962C8B-B14F-4D97-AF65-F5344CB8AC3E}">
        <p14:creationId xmlns:p14="http://schemas.microsoft.com/office/powerpoint/2010/main" val="215630199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7BBBA85-E772-B0F1-C548-2784DE3FCDF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4B88962-03A7-D0EF-F996-FB50977AE5A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7. </a:t>
            </a:r>
            <a:r>
              <a:rPr lang="en-GB" b="1" dirty="0"/>
              <a:t>Environment Variables &amp; Configuration</a:t>
            </a:r>
            <a:endParaRPr lang="en-GB" dirty="0"/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9915AA5A-1162-D03C-6BCC-7A5C6DEB067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60188600"/>
              </p:ext>
            </p:extLst>
          </p:nvPr>
        </p:nvGraphicFramePr>
        <p:xfrm>
          <a:off x="677334" y="2790513"/>
          <a:ext cx="9192807" cy="2123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329890">
                  <a:extLst>
                    <a:ext uri="{9D8B030D-6E8A-4147-A177-3AD203B41FA5}">
                      <a16:colId xmlns:a16="http://schemas.microsoft.com/office/drawing/2014/main" val="4097719189"/>
                    </a:ext>
                  </a:extLst>
                </a:gridCol>
                <a:gridCol w="3119717">
                  <a:extLst>
                    <a:ext uri="{9D8B030D-6E8A-4147-A177-3AD203B41FA5}">
                      <a16:colId xmlns:a16="http://schemas.microsoft.com/office/drawing/2014/main" val="3299531106"/>
                    </a:ext>
                  </a:extLst>
                </a:gridCol>
                <a:gridCol w="2743200">
                  <a:extLst>
                    <a:ext uri="{9D8B030D-6E8A-4147-A177-3AD203B41FA5}">
                      <a16:colId xmlns:a16="http://schemas.microsoft.com/office/drawing/2014/main" val="299931877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Variable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Example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Purpose</a:t>
                      </a:r>
                      <a:endParaRPr lang="en-GB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4382457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dirty="0" err="1"/>
                        <a:t>ConnectionStrings:DefaultConnection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Host=localhost;...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PostgreSQL connection string</a:t>
                      </a:r>
                      <a:endParaRPr lang="en-GB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1676606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dirty="0" err="1"/>
                        <a:t>ConnectionStrings:Redis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localhost:6379,...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Redis cache connection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5804921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dirty="0" err="1"/>
                        <a:t>FrontendUrl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http://localhost:5173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CORS allowed origin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7468929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ASPNETCORE_ENVIRONMENT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Development or Production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Runtime environment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0874723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879992413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1079FE4-F875-2832-B08F-57306448488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9B0DAA8-0957-8E75-9F16-274533B8177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7. </a:t>
            </a:r>
            <a:r>
              <a:rPr lang="en-GB" b="1" dirty="0"/>
              <a:t>Environment Variables &amp; Configuration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E434E5F-5F07-4C78-6F16-BE61453D468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77333" y="2160589"/>
            <a:ext cx="9013513" cy="3880773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GB" dirty="0"/>
              <a:t>Setup Instructions</a:t>
            </a:r>
          </a:p>
          <a:p>
            <a:pPr>
              <a:buFont typeface="+mj-lt"/>
              <a:buAutoNum type="arabicPeriod"/>
            </a:pPr>
            <a:r>
              <a:rPr lang="en-GB" dirty="0"/>
              <a:t>Clone the repository and restore as a normal .NET project</a:t>
            </a:r>
          </a:p>
          <a:p>
            <a:pPr>
              <a:buFont typeface="+mj-lt"/>
              <a:buAutoNum type="arabicPeriod"/>
            </a:pPr>
            <a:r>
              <a:rPr lang="en-GB" dirty="0"/>
              <a:t>Run the project with “https” option, the project should start hosting at port 7296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BE35E446-8BBF-87C3-94D1-EA30045D609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24783" y="3546181"/>
            <a:ext cx="6049219" cy="2867425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05FAEEC8-EC64-8D3E-2908-F3AB84F7A1D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6709" y="4605044"/>
            <a:ext cx="1374445" cy="74969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6921017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9C5269-032C-7F8C-B177-310370044FA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986A896-22C8-BE88-9D0F-0EBF3FD6F79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7334" y="609600"/>
            <a:ext cx="8596668" cy="860613"/>
          </a:xfrm>
        </p:spPr>
        <p:txBody>
          <a:bodyPr/>
          <a:lstStyle/>
          <a:p>
            <a:r>
              <a:rPr lang="en-GB" dirty="0"/>
              <a:t>8. </a:t>
            </a:r>
            <a:r>
              <a:rPr lang="en-GB" b="1" dirty="0"/>
              <a:t>Limitations &amp; Future Improvements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DA3B960-5B73-CD89-1FB8-C7FA6FCEC3B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77333" y="1470213"/>
            <a:ext cx="9013513" cy="460187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/>
              <a:t>Current</a:t>
            </a:r>
            <a:r>
              <a:rPr lang="en-GB"/>
              <a:t> </a:t>
            </a:r>
            <a:r>
              <a:rPr lang="en-GB" dirty="0"/>
              <a:t>limitations:</a:t>
            </a:r>
          </a:p>
        </p:txBody>
      </p:sp>
      <p:graphicFrame>
        <p:nvGraphicFramePr>
          <p:cNvPr id="8" name="Table 7">
            <a:extLst>
              <a:ext uri="{FF2B5EF4-FFF2-40B4-BE49-F238E27FC236}">
                <a16:creationId xmlns:a16="http://schemas.microsoft.com/office/drawing/2014/main" id="{873B6B6D-F5DA-0957-6A26-FFEC087C253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92816792"/>
              </p:ext>
            </p:extLst>
          </p:nvPr>
        </p:nvGraphicFramePr>
        <p:xfrm>
          <a:off x="677331" y="1930400"/>
          <a:ext cx="9013512" cy="4719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07798">
                  <a:extLst>
                    <a:ext uri="{9D8B030D-6E8A-4147-A177-3AD203B41FA5}">
                      <a16:colId xmlns:a16="http://schemas.microsoft.com/office/drawing/2014/main" val="1943469958"/>
                    </a:ext>
                  </a:extLst>
                </a:gridCol>
                <a:gridCol w="4025397">
                  <a:extLst>
                    <a:ext uri="{9D8B030D-6E8A-4147-A177-3AD203B41FA5}">
                      <a16:colId xmlns:a16="http://schemas.microsoft.com/office/drawing/2014/main" val="3555623721"/>
                    </a:ext>
                  </a:extLst>
                </a:gridCol>
                <a:gridCol w="1380317">
                  <a:extLst>
                    <a:ext uri="{9D8B030D-6E8A-4147-A177-3AD203B41FA5}">
                      <a16:colId xmlns:a16="http://schemas.microsoft.com/office/drawing/2014/main" val="496786382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/>
                        <a:t>Limitation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/>
                        <a:t>Impact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Severity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6222224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Lack of Inventory Model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/>
                        <a:t>No stock tracking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/>
                        <a:t>Medium</a:t>
                      </a:r>
                      <a:endParaRPr lang="en-GB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7797662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Simple search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Only search LIKE name &amp; description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Medium</a:t>
                      </a:r>
                      <a:endParaRPr lang="en-GB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1901673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/>
                        <a:t>No Authentication/Authorization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/>
                        <a:t>Anyone can modify products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/>
                        <a:t>High</a:t>
                      </a:r>
                      <a:endParaRPr lang="en-GB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1938511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Static Pricing Model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/>
                        <a:t>No discounts, promotions, or dynamic pricing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/>
                        <a:t>Medium</a:t>
                      </a:r>
                      <a:endParaRPr lang="en-GB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322408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/>
                        <a:t>Limited Product Attributes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/>
                        <a:t>Basic name/description only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/>
                        <a:t>Medium</a:t>
                      </a:r>
                      <a:endParaRPr lang="en-GB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0774689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No Rate Limiting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Vulnerable to abuse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Medium</a:t>
                      </a:r>
                      <a:endParaRPr lang="en-GB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9001077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Minimal Error Handling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Generic error messages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Low</a:t>
                      </a:r>
                      <a:endParaRPr lang="en-GB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4534783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Non structured response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Hard for response handling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Medium</a:t>
                      </a:r>
                      <a:endParaRPr lang="en-GB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8569502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No logging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Difficult to debug errors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Medium</a:t>
                      </a:r>
                      <a:endParaRPr lang="en-GB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0300591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No Internationalization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Single language support only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Low</a:t>
                      </a:r>
                      <a:endParaRPr lang="en-GB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224995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No File Storage Integration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Images stored in database (BYTEA)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Low</a:t>
                      </a:r>
                      <a:endParaRPr lang="en-GB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5533984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003610060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856D951-3FD4-6F2F-D3EF-9BDC180164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8E0335B-D958-7A2D-BA3A-BC45C969030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8. </a:t>
            </a:r>
            <a:r>
              <a:rPr lang="en-GB" b="1" dirty="0"/>
              <a:t>Limitations &amp; Future Improvements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C7319D7-924A-0948-A4A9-1D9924DD9B7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GB" dirty="0"/>
              <a:t>Future improvements</a:t>
            </a:r>
          </a:p>
          <a:p>
            <a:r>
              <a:rPr lang="en-GB" dirty="0"/>
              <a:t>Add authentication &amp; authorization</a:t>
            </a:r>
          </a:p>
          <a:p>
            <a:r>
              <a:rPr lang="en-GB" dirty="0"/>
              <a:t>Inventory management system</a:t>
            </a:r>
          </a:p>
          <a:p>
            <a:r>
              <a:rPr lang="en-GB" dirty="0"/>
              <a:t>Product attributes &amp; extensions</a:t>
            </a:r>
          </a:p>
          <a:p>
            <a:r>
              <a:rPr lang="en-GB" dirty="0"/>
              <a:t>Pricing &amp; promotions</a:t>
            </a:r>
          </a:p>
          <a:p>
            <a:r>
              <a:rPr lang="en-GB" dirty="0"/>
              <a:t>Cloud file storage</a:t>
            </a:r>
          </a:p>
          <a:p>
            <a:r>
              <a:rPr lang="en-GB" dirty="0"/>
              <a:t>Rate limiting</a:t>
            </a:r>
          </a:p>
          <a:p>
            <a:r>
              <a:rPr lang="en-GB" dirty="0"/>
              <a:t>Search optimization </a:t>
            </a:r>
          </a:p>
        </p:txBody>
      </p:sp>
    </p:spTree>
    <p:extLst>
      <p:ext uri="{BB962C8B-B14F-4D97-AF65-F5344CB8AC3E}">
        <p14:creationId xmlns:p14="http://schemas.microsoft.com/office/powerpoint/2010/main" val="2450776008"/>
      </p:ext>
    </p:extLst>
  </p:cSld>
  <p:clrMapOvr>
    <a:masterClrMapping/>
  </p:clrMapOvr>
</p:sld>
</file>

<file path=ppt/theme/theme1.xml><?xml version="1.0" encoding="utf-8"?>
<a:theme xmlns:a="http://schemas.openxmlformats.org/drawingml/2006/main" name="Facet">
  <a:themeElements>
    <a:clrScheme name="Facet">
      <a:dk1>
        <a:sysClr val="windowText" lastClr="000000"/>
      </a:dk1>
      <a:lt1>
        <a:sysClr val="window" lastClr="FFFFFF"/>
      </a:lt1>
      <a:dk2>
        <a:srgbClr val="2C3C43"/>
      </a:dk2>
      <a:lt2>
        <a:srgbClr val="EBEBEB"/>
      </a:lt2>
      <a:accent1>
        <a:srgbClr val="90C226"/>
      </a:accent1>
      <a:accent2>
        <a:srgbClr val="54A021"/>
      </a:accent2>
      <a:accent3>
        <a:srgbClr val="E6B91E"/>
      </a:accent3>
      <a:accent4>
        <a:srgbClr val="E76618"/>
      </a:accent4>
      <a:accent5>
        <a:srgbClr val="C42F1A"/>
      </a:accent5>
      <a:accent6>
        <a:srgbClr val="918655"/>
      </a:accent6>
      <a:hlink>
        <a:srgbClr val="99CA3C"/>
      </a:hlink>
      <a:folHlink>
        <a:srgbClr val="B9D181"/>
      </a:folHlink>
    </a:clrScheme>
    <a:fontScheme name="Facet">
      <a:majorFont>
        <a:latin typeface="Trebuchet MS" panose="020B0603020202020204"/>
        <a:ea typeface=""/>
        <a:cs typeface=""/>
        <a:font script="Jpan" typeface="メイリオ"/>
        <a:font script="Hang" typeface="맑은 고딕"/>
        <a:font script="Hans" typeface="方正姚体"/>
        <a:font script="Hant" typeface="微軟正黑體"/>
        <a:font script="Arab" typeface="Tahoma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Trebuchet MS" panose="020B0603020202020204"/>
        <a:ea typeface=""/>
        <a:cs typeface=""/>
        <a:font script="Jpan" typeface="メイリオ"/>
        <a:font script="Hang" typeface="HY그래픽M"/>
        <a:font script="Hans" typeface="华文新魏"/>
        <a:font script="Hant" typeface="微軟正黑體"/>
        <a:font script="Arab" typeface="Tahoma"/>
        <a:font script="Hebr" typeface="Gisha"/>
        <a:font script="Thai" typeface="Iris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Facet">
      <a:fillStyleLst>
        <a:solidFill>
          <a:schemeClr val="phClr"/>
        </a:solidFill>
        <a:gradFill rotWithShape="1">
          <a:gsLst>
            <a:gs pos="0">
              <a:schemeClr val="phClr">
                <a:tint val="65000"/>
                <a:lumMod val="110000"/>
              </a:schemeClr>
            </a:gs>
            <a:gs pos="88000">
              <a:schemeClr val="phClr">
                <a:tint val="9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6000"/>
                <a:lumMod val="100000"/>
              </a:schemeClr>
            </a:gs>
            <a:gs pos="78000">
              <a:schemeClr val="phClr">
                <a:shade val="94000"/>
                <a:lumMod val="94000"/>
              </a:schemeClr>
            </a:gs>
          </a:gsLst>
          <a:lin ang="5400000" scaled="0"/>
        </a:gradFill>
      </a:fillStyleLst>
      <a:lnStyleLst>
        <a:ln w="12700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50800" dist="381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l"/>
          </a:scene3d>
          <a:sp3d prstMaterial="plastic">
            <a:bevelT w="0" h="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04000"/>
              </a:schemeClr>
            </a:gs>
            <a:gs pos="94000">
              <a:schemeClr val="phClr">
                <a:shade val="96000"/>
                <a:lumMod val="82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94000"/>
                <a:lumMod val="96000"/>
              </a:schemeClr>
            </a:gs>
          </a:gsLst>
          <a:path path="circle">
            <a:fillToRect l="50000" t="50000" r="100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Facet" id="{C0C680CD-088A-49FC-A102-D699147F32B2}" vid="{CFBC31BA-B70F-4F30-BCAA-4F3011E16C4D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Facet</Template>
  <TotalTime>148</TotalTime>
  <Words>976</Words>
  <Application>Microsoft Office PowerPoint</Application>
  <PresentationFormat>Widescreen</PresentationFormat>
  <Paragraphs>178</Paragraphs>
  <Slides>19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3" baseType="lpstr">
      <vt:lpstr>Arial</vt:lpstr>
      <vt:lpstr>Trebuchet MS</vt:lpstr>
      <vt:lpstr>Wingdings 3</vt:lpstr>
      <vt:lpstr>Facet</vt:lpstr>
      <vt:lpstr>E-commerce Backend</vt:lpstr>
      <vt:lpstr>1. Approach the Requirement</vt:lpstr>
      <vt:lpstr>1. Approach the Requirement</vt:lpstr>
      <vt:lpstr>2. Database Design</vt:lpstr>
      <vt:lpstr>2. Database Design</vt:lpstr>
      <vt:lpstr>2. Database Design</vt:lpstr>
      <vt:lpstr>3. Technology Stack Components</vt:lpstr>
      <vt:lpstr>4. API and Data Handling</vt:lpstr>
      <vt:lpstr>4. API and Data Handling</vt:lpstr>
      <vt:lpstr>4. API and Data Handling</vt:lpstr>
      <vt:lpstr>4. API and Data Handling</vt:lpstr>
      <vt:lpstr>4. API and Data Handling</vt:lpstr>
      <vt:lpstr>5. Performance &amp; Scalability</vt:lpstr>
      <vt:lpstr>5. Performance &amp; Scalability</vt:lpstr>
      <vt:lpstr>6. Postman Collection</vt:lpstr>
      <vt:lpstr>7. Environment Variables &amp; Configuration</vt:lpstr>
      <vt:lpstr>7. Environment Variables &amp; Configuration</vt:lpstr>
      <vt:lpstr>8. Limitations &amp; Future Improvements</vt:lpstr>
      <vt:lpstr>8. Limitations &amp; Future Improvements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Đặng Phương Tân</dc:creator>
  <cp:lastModifiedBy>Đặng Phương Tân</cp:lastModifiedBy>
  <cp:revision>51</cp:revision>
  <dcterms:created xsi:type="dcterms:W3CDTF">2025-11-26T09:22:34Z</dcterms:created>
  <dcterms:modified xsi:type="dcterms:W3CDTF">2025-11-26T13:29:19Z</dcterms:modified>
</cp:coreProperties>
</file>