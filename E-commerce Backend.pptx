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716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6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77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912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985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793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051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59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92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22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1280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620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059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232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14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36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63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B292-6FBC-CE5F-6459-016C656099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E-commerce Backend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7651-7153-BF3E-259F-DA9D5A4B7D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527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CA6F-69D7-46C5-63FE-113BB918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Approach the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04557-7B1A-4F16-935F-A26CE5B58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Step-by-step Development Process: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Domain Modelling:</a:t>
            </a:r>
            <a:r>
              <a:rPr lang="en-GB" dirty="0"/>
              <a:t> Define core entities (Product, Category,…) with relationships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API Design: </a:t>
            </a:r>
            <a:r>
              <a:rPr lang="en-GB" dirty="0"/>
              <a:t>RESTful endpoints following HTTP conventions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Service Layer: </a:t>
            </a:r>
            <a:r>
              <a:rPr lang="en-GB" dirty="0"/>
              <a:t>Business logic encapsulation and data transformation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Data Access: </a:t>
            </a:r>
            <a:r>
              <a:rPr lang="en-GB" dirty="0"/>
              <a:t>EF Core context with query optimization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Validation: </a:t>
            </a:r>
            <a:r>
              <a:rPr lang="en-GB" dirty="0" err="1"/>
              <a:t>FluentValidation</a:t>
            </a:r>
            <a:r>
              <a:rPr lang="en-GB" dirty="0"/>
              <a:t> for input/output validation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Performance:</a:t>
            </a:r>
            <a:r>
              <a:rPr lang="en-GB" dirty="0"/>
              <a:t> Caching layer and database query optimization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Infrastructure: </a:t>
            </a:r>
            <a:r>
              <a:rPr lang="en-GB" dirty="0"/>
              <a:t>Dependency injection and middleware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416641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10A7-4E99-5EC0-773F-8693B869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36CB-7372-F99D-4BBE-0B9F4CED1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Approach the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F921F-79DF-7992-7279-ED8AAF9B6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Principles Implemented</a:t>
            </a:r>
          </a:p>
          <a:p>
            <a:r>
              <a:rPr lang="en-US" b="1" dirty="0"/>
              <a:t>SOLID Principles</a:t>
            </a:r>
          </a:p>
          <a:p>
            <a:r>
              <a:rPr lang="en-US" b="1" dirty="0"/>
              <a:t>DRY (Don't Repeat Yourself): </a:t>
            </a:r>
            <a:r>
              <a:rPr lang="en-US" dirty="0"/>
              <a:t>Shared DTOs, validators, and filters</a:t>
            </a:r>
          </a:p>
          <a:p>
            <a:r>
              <a:rPr lang="en-US" b="1" dirty="0"/>
              <a:t>Dependency Injection: </a:t>
            </a:r>
            <a:r>
              <a:rPr lang="en-US" dirty="0"/>
              <a:t>Constructor-based DI for loose coupling</a:t>
            </a:r>
          </a:p>
          <a:p>
            <a:r>
              <a:rPr lang="en-US" b="1" dirty="0"/>
              <a:t>Async/Await: </a:t>
            </a:r>
            <a:r>
              <a:rPr lang="en-US" dirty="0"/>
              <a:t>Non-blocking I/O operations throughout</a:t>
            </a:r>
          </a:p>
        </p:txBody>
      </p:sp>
    </p:spTree>
    <p:extLst>
      <p:ext uri="{BB962C8B-B14F-4D97-AF65-F5344CB8AC3E}">
        <p14:creationId xmlns:p14="http://schemas.microsoft.com/office/powerpoint/2010/main" val="1196030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F05F1-6210-4263-C10E-54D046987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4C9F-9B94-3DCF-EDB2-55D9073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3A022-ABEA-73AA-6934-903A77A65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Database Choice: PostgreSQL (Production) + In-Memory (Demonstration)</a:t>
            </a:r>
          </a:p>
          <a:p>
            <a:pPr marL="0" indent="0">
              <a:buNone/>
            </a:pPr>
            <a:r>
              <a:rPr lang="en-US" dirty="0"/>
              <a:t>Rationale for PostgreSQL:</a:t>
            </a:r>
          </a:p>
          <a:p>
            <a:r>
              <a:rPr lang="en-GB" b="1" dirty="0"/>
              <a:t>Data Integrity: </a:t>
            </a:r>
            <a:r>
              <a:rPr lang="en-GB" dirty="0"/>
              <a:t>ACID compliance ensures reliable transactions</a:t>
            </a:r>
          </a:p>
          <a:p>
            <a:r>
              <a:rPr lang="en-GB" b="1" dirty="0"/>
              <a:t>Scalability:</a:t>
            </a:r>
            <a:r>
              <a:rPr lang="en-GB" dirty="0"/>
              <a:t> Handles large datasets efficiently with proper indexing</a:t>
            </a:r>
          </a:p>
          <a:p>
            <a:r>
              <a:rPr lang="en-GB" b="1" dirty="0"/>
              <a:t>Relationships:</a:t>
            </a:r>
            <a:r>
              <a:rPr lang="en-GB" dirty="0"/>
              <a:t> Excellent support for complex object-relational structures</a:t>
            </a:r>
          </a:p>
          <a:p>
            <a:r>
              <a:rPr lang="en-GB" b="1" dirty="0"/>
              <a:t>Open Source: </a:t>
            </a:r>
            <a:r>
              <a:rPr lang="en-GB" dirty="0"/>
              <a:t>Cost-effective with strong community support</a:t>
            </a:r>
          </a:p>
          <a:p>
            <a:r>
              <a:rPr lang="en-GB" b="1" dirty="0"/>
              <a:t>Performance:</a:t>
            </a:r>
            <a:r>
              <a:rPr lang="en-GB" dirty="0"/>
              <a:t> Native JSON support, advanced query optimization</a:t>
            </a:r>
          </a:p>
          <a:p>
            <a:r>
              <a:rPr lang="en-GB" b="1" dirty="0"/>
              <a:t>Production-Ready:</a:t>
            </a:r>
            <a:r>
              <a:rPr lang="en-GB" dirty="0"/>
              <a:t> Battle-tested in enterprise environments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356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DA28A-B0C0-AA15-D126-EBB2D3699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844B-FDA7-26D1-8E38-3AB4230B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9247"/>
          </a:xfrm>
        </p:spPr>
        <p:txBody>
          <a:bodyPr/>
          <a:lstStyle/>
          <a:p>
            <a:r>
              <a:rPr lang="en-GB" dirty="0"/>
              <a:t>2. 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18F9A-4F70-0499-8FC7-3323E9188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7460"/>
            <a:ext cx="8596668" cy="457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Database Schema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0DEAD5-42FB-0C94-816E-0EDE734B5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864660"/>
            <a:ext cx="8429325" cy="468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36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56188-D915-B17A-256C-EEA486062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CF7C6-CC1C-FE5F-9E28-89C73766E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D9866-EB0A-02B7-5CC2-99AABDFA9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Design Features Supporting Extensibility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Global Query Filters:</a:t>
            </a:r>
            <a:r>
              <a:rPr lang="en-GB" dirty="0"/>
              <a:t> Active record pattern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Soft Delete Support: </a:t>
            </a:r>
            <a:r>
              <a:rPr lang="en-GB" i="1" dirty="0" err="1">
                <a:solidFill>
                  <a:schemeClr val="bg2">
                    <a:lumMod val="50000"/>
                  </a:schemeClr>
                </a:solidFill>
              </a:rPr>
              <a:t>is_active</a:t>
            </a:r>
            <a:r>
              <a:rPr lang="en-GB" dirty="0"/>
              <a:t> field allows logical deletion without data loss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Audit Trail: </a:t>
            </a:r>
            <a:r>
              <a:rPr lang="en-GB" i="1" dirty="0" err="1">
                <a:solidFill>
                  <a:schemeClr val="bg2">
                    <a:lumMod val="50000"/>
                  </a:schemeClr>
                </a:solidFill>
              </a:rPr>
              <a:t>created_at</a:t>
            </a:r>
            <a:r>
              <a:rPr lang="en-GB" i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GB" dirty="0"/>
              <a:t>and </a:t>
            </a:r>
            <a:r>
              <a:rPr lang="en-GB" i="1" dirty="0" err="1">
                <a:solidFill>
                  <a:schemeClr val="bg2">
                    <a:lumMod val="50000"/>
                  </a:schemeClr>
                </a:solidFill>
              </a:rPr>
              <a:t>updated_at</a:t>
            </a:r>
            <a:r>
              <a:rPr lang="en-GB" dirty="0"/>
              <a:t> timestamps track changes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Extensible Entity Structure: </a:t>
            </a:r>
            <a:r>
              <a:rPr lang="en-GB" dirty="0"/>
              <a:t>Product entity architecture ready for (commented out for simplicity):</a:t>
            </a:r>
          </a:p>
          <a:p>
            <a:pPr marL="800100" lvl="2" indent="0">
              <a:buNone/>
            </a:pPr>
            <a:r>
              <a:rPr lang="en-GB" b="1" dirty="0" err="1"/>
              <a:t>ProductAttributes</a:t>
            </a:r>
            <a:r>
              <a:rPr lang="en-GB" b="1" dirty="0"/>
              <a:t>:</a:t>
            </a:r>
            <a:r>
              <a:rPr lang="en-GB" dirty="0"/>
              <a:t> Additional product features</a:t>
            </a:r>
          </a:p>
          <a:p>
            <a:pPr marL="800100" lvl="2" indent="0">
              <a:buNone/>
            </a:pPr>
            <a:r>
              <a:rPr lang="en-GB" b="1" dirty="0" err="1"/>
              <a:t>ProductVariants</a:t>
            </a:r>
            <a:r>
              <a:rPr lang="en-GB" b="1" dirty="0"/>
              <a:t>:</a:t>
            </a:r>
            <a:r>
              <a:rPr lang="en-GB" dirty="0"/>
              <a:t> Size, </a:t>
            </a:r>
            <a:r>
              <a:rPr lang="en-GB" dirty="0" err="1"/>
              <a:t>color</a:t>
            </a:r>
            <a:r>
              <a:rPr lang="en-GB" dirty="0"/>
              <a:t>, stock level variants</a:t>
            </a:r>
          </a:p>
        </p:txBody>
      </p:sp>
    </p:spTree>
    <p:extLst>
      <p:ext uri="{BB962C8B-B14F-4D97-AF65-F5344CB8AC3E}">
        <p14:creationId xmlns:p14="http://schemas.microsoft.com/office/powerpoint/2010/main" val="1106352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FD842-F55D-B513-9DCB-B84D321B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623B-0FB0-3EE8-E0C2-CF78F692A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Technology Stack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4FADC-0FDB-8110-A1F3-E1AEDD789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Core Framework: </a:t>
            </a:r>
            <a:r>
              <a:rPr lang="en-GB" dirty="0"/>
              <a:t>.NET 8.0 - Modern language features and improved performance</a:t>
            </a:r>
          </a:p>
          <a:p>
            <a:r>
              <a:rPr lang="en-GB" b="1" dirty="0"/>
              <a:t>Data Access &amp; ORM: </a:t>
            </a:r>
          </a:p>
          <a:p>
            <a:pPr lvl="1"/>
            <a:r>
              <a:rPr lang="en-GB" b="1" dirty="0" err="1"/>
              <a:t>EntityFramework</a:t>
            </a:r>
            <a:r>
              <a:rPr lang="en-GB" b="1" dirty="0"/>
              <a:t> Core 9.0.11:</a:t>
            </a:r>
            <a:r>
              <a:rPr lang="en-GB" dirty="0"/>
              <a:t>	 ORM for database access</a:t>
            </a:r>
          </a:p>
          <a:p>
            <a:pPr lvl="1"/>
            <a:r>
              <a:rPr lang="en-GB" b="1" dirty="0" err="1"/>
              <a:t>Npgsql</a:t>
            </a:r>
            <a:r>
              <a:rPr lang="en-GB" b="1" dirty="0"/>
              <a:t> EF Core 9.0.4:</a:t>
            </a:r>
            <a:r>
              <a:rPr lang="en-GB" dirty="0"/>
              <a:t> PostgreSQL provider for EF Core</a:t>
            </a:r>
          </a:p>
          <a:p>
            <a:pPr lvl="1"/>
            <a:r>
              <a:rPr lang="en-GB" b="1" dirty="0"/>
              <a:t>EF Core </a:t>
            </a:r>
            <a:r>
              <a:rPr lang="en-GB" b="1" dirty="0" err="1"/>
              <a:t>InMemory</a:t>
            </a:r>
            <a:r>
              <a:rPr lang="en-GB" b="1" dirty="0"/>
              <a:t> 9.0.11: </a:t>
            </a:r>
            <a:r>
              <a:rPr lang="en-GB" dirty="0"/>
              <a:t>Development/testing database</a:t>
            </a:r>
          </a:p>
          <a:p>
            <a:r>
              <a:rPr lang="en-GB" b="1" dirty="0"/>
              <a:t>Validation Framework: </a:t>
            </a:r>
            <a:r>
              <a:rPr lang="en-GB" dirty="0" err="1"/>
              <a:t>FluentValidation</a:t>
            </a:r>
            <a:r>
              <a:rPr lang="en-GB" dirty="0"/>
              <a:t> 12.1.0</a:t>
            </a:r>
          </a:p>
          <a:p>
            <a:r>
              <a:rPr lang="en-GB" b="1" dirty="0"/>
              <a:t>Caching Strategy: </a:t>
            </a:r>
            <a:r>
              <a:rPr lang="en-GB" dirty="0" err="1"/>
              <a:t>StackExchange.Redis</a:t>
            </a:r>
            <a:r>
              <a:rPr lang="en-GB" dirty="0"/>
              <a:t> 2.10.1</a:t>
            </a:r>
          </a:p>
          <a:p>
            <a:r>
              <a:rPr lang="en-GB" b="1" dirty="0"/>
              <a:t>API Documentation: </a:t>
            </a:r>
            <a:r>
              <a:rPr lang="en-GB" dirty="0" err="1"/>
              <a:t>Swashbuckle.AspNetCore</a:t>
            </a:r>
            <a:r>
              <a:rPr lang="en-GB" dirty="0"/>
              <a:t> 6.6.2</a:t>
            </a:r>
          </a:p>
        </p:txBody>
      </p:sp>
    </p:spTree>
    <p:extLst>
      <p:ext uri="{BB962C8B-B14F-4D97-AF65-F5344CB8AC3E}">
        <p14:creationId xmlns:p14="http://schemas.microsoft.com/office/powerpoint/2010/main" val="174831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2AC86-041B-F984-CBD7-A6DBC293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D946-06A4-A18F-E9FE-FFC54ED11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API and 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BDE87-5EFA-6E4F-72D2-447116CAF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API Design Philosophy:</a:t>
            </a:r>
          </a:p>
          <a:p>
            <a:r>
              <a:rPr lang="en-GB" b="1" dirty="0"/>
              <a:t>RESTful Architecture: </a:t>
            </a:r>
            <a:r>
              <a:rPr lang="en-GB" dirty="0"/>
              <a:t>Resource-oriented design</a:t>
            </a:r>
          </a:p>
          <a:p>
            <a:r>
              <a:rPr lang="en-GB" b="1" dirty="0"/>
              <a:t>HTTP Semantics: </a:t>
            </a:r>
            <a:r>
              <a:rPr lang="en-GB" dirty="0"/>
              <a:t>Proper status codes and methods</a:t>
            </a:r>
          </a:p>
          <a:p>
            <a:r>
              <a:rPr lang="en-GB" b="1" dirty="0"/>
              <a:t>JSON Standard: </a:t>
            </a:r>
            <a:r>
              <a:rPr lang="en-GB" dirty="0"/>
              <a:t>Request/response format</a:t>
            </a:r>
          </a:p>
          <a:p>
            <a:r>
              <a:rPr lang="en-GB" b="1" dirty="0"/>
              <a:t>Pagination: </a:t>
            </a:r>
            <a:r>
              <a:rPr lang="en-GB" dirty="0"/>
              <a:t>Efficient data retrieval for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3175847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4065C-A411-4085-997E-198909080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9C36-940D-2200-5236-B1497E193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API and 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E60C7-1887-30B2-A2F8-C73CEC324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9859"/>
            <a:ext cx="8596668" cy="4894729"/>
          </a:xfrm>
        </p:spPr>
        <p:txBody>
          <a:bodyPr>
            <a:normAutofit/>
          </a:bodyPr>
          <a:lstStyle/>
          <a:p>
            <a:r>
              <a:rPr lang="en-GB" b="1" dirty="0"/>
              <a:t>Products API</a:t>
            </a:r>
          </a:p>
          <a:p>
            <a:pPr lvl="1"/>
            <a:r>
              <a:rPr lang="en-GB" b="1" dirty="0"/>
              <a:t>List Products (Paginated)</a:t>
            </a:r>
            <a:endParaRPr lang="en-GB" dirty="0"/>
          </a:p>
          <a:p>
            <a:pPr lvl="2"/>
            <a:r>
              <a:rPr lang="en-GB" dirty="0"/>
              <a:t>GET /</a:t>
            </a:r>
            <a:r>
              <a:rPr lang="en-GB" dirty="0" err="1"/>
              <a:t>api</a:t>
            </a:r>
            <a:r>
              <a:rPr lang="en-GB" dirty="0"/>
              <a:t>/</a:t>
            </a:r>
            <a:r>
              <a:rPr lang="en-GB" dirty="0" err="1"/>
              <a:t>products?searchTerm</a:t>
            </a:r>
            <a:r>
              <a:rPr lang="en-GB" dirty="0"/>
              <a:t>={term}&amp;</a:t>
            </a:r>
            <a:r>
              <a:rPr lang="en-GB" dirty="0" err="1"/>
              <a:t>pageNumber</a:t>
            </a:r>
            <a:r>
              <a:rPr lang="en-GB" dirty="0"/>
              <a:t>={number}&amp;</a:t>
            </a:r>
            <a:r>
              <a:rPr lang="en-GB" dirty="0" err="1"/>
              <a:t>pageSize</a:t>
            </a:r>
            <a:r>
              <a:rPr lang="en-GB" dirty="0"/>
              <a:t>={size}</a:t>
            </a:r>
          </a:p>
          <a:p>
            <a:pPr lvl="2"/>
            <a:r>
              <a:rPr lang="en-GB" dirty="0"/>
              <a:t>Response: 200 OK with </a:t>
            </a:r>
            <a:r>
              <a:rPr lang="en-GB" dirty="0" err="1"/>
              <a:t>PagedList</a:t>
            </a:r>
            <a:r>
              <a:rPr lang="en-GB" dirty="0"/>
              <a:t>&lt;</a:t>
            </a:r>
            <a:r>
              <a:rPr lang="en-GB" dirty="0" err="1"/>
              <a:t>ProductDto</a:t>
            </a:r>
            <a:r>
              <a:rPr lang="en-GB" dirty="0"/>
              <a:t>&gt;</a:t>
            </a:r>
          </a:p>
          <a:p>
            <a:pPr lvl="1"/>
            <a:r>
              <a:rPr lang="en-GB" b="1" dirty="0"/>
              <a:t>Get Product Details</a:t>
            </a:r>
            <a:endParaRPr lang="en-GB" dirty="0"/>
          </a:p>
          <a:p>
            <a:pPr lvl="2"/>
            <a:r>
              <a:rPr lang="en-GB" dirty="0"/>
              <a:t>GET /</a:t>
            </a:r>
            <a:r>
              <a:rPr lang="en-GB" dirty="0" err="1"/>
              <a:t>api</a:t>
            </a:r>
            <a:r>
              <a:rPr lang="en-GB" dirty="0"/>
              <a:t>/products/{id}</a:t>
            </a:r>
          </a:p>
          <a:p>
            <a:pPr lvl="2"/>
            <a:r>
              <a:rPr lang="en-GB" dirty="0"/>
              <a:t>Response: </a:t>
            </a:r>
          </a:p>
          <a:p>
            <a:pPr lvl="3"/>
            <a:r>
              <a:rPr lang="en-GB" dirty="0"/>
              <a:t>200 OK with </a:t>
            </a:r>
            <a:r>
              <a:rPr lang="en-GB" dirty="0" err="1"/>
              <a:t>ProductDetailDto</a:t>
            </a:r>
            <a:r>
              <a:rPr lang="en-GB" dirty="0"/>
              <a:t> (includes category)</a:t>
            </a:r>
          </a:p>
          <a:p>
            <a:pPr lvl="3"/>
            <a:r>
              <a:rPr lang="en-GB" dirty="0"/>
              <a:t>404 Not Found if product doesn't exist</a:t>
            </a:r>
          </a:p>
          <a:p>
            <a:pPr lvl="1"/>
            <a:r>
              <a:rPr lang="en-GB" b="1" dirty="0"/>
              <a:t>Create Product</a:t>
            </a:r>
            <a:endParaRPr lang="en-GB" dirty="0"/>
          </a:p>
          <a:p>
            <a:pPr lvl="2"/>
            <a:r>
              <a:rPr lang="en-GB" dirty="0"/>
              <a:t>POST /</a:t>
            </a:r>
            <a:r>
              <a:rPr lang="en-GB" dirty="0" err="1"/>
              <a:t>api</a:t>
            </a:r>
            <a:r>
              <a:rPr lang="en-GB" dirty="0"/>
              <a:t>/products</a:t>
            </a:r>
          </a:p>
          <a:p>
            <a:pPr lvl="2"/>
            <a:r>
              <a:rPr lang="en-GB" dirty="0"/>
              <a:t>Content-Type: multipart/form-data</a:t>
            </a:r>
          </a:p>
          <a:p>
            <a:pPr lvl="2"/>
            <a:r>
              <a:rPr lang="en-GB" dirty="0"/>
              <a:t>Body: { name, description, </a:t>
            </a:r>
            <a:r>
              <a:rPr lang="en-GB" dirty="0" err="1"/>
              <a:t>basePrice</a:t>
            </a:r>
            <a:r>
              <a:rPr lang="en-GB" dirty="0"/>
              <a:t>, </a:t>
            </a:r>
            <a:r>
              <a:rPr lang="en-GB" dirty="0" err="1"/>
              <a:t>categoryId</a:t>
            </a:r>
            <a:r>
              <a:rPr lang="en-GB" dirty="0"/>
              <a:t>, image }</a:t>
            </a:r>
          </a:p>
          <a:p>
            <a:pPr lvl="2"/>
            <a:r>
              <a:rPr lang="en-GB" dirty="0"/>
              <a:t>Response: 201 Created with </a:t>
            </a:r>
            <a:r>
              <a:rPr lang="en-GB" dirty="0" err="1"/>
              <a:t>ProductDetailDto</a:t>
            </a: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39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DA1DF-057B-DA24-6A2F-3A827084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831A7-D68C-C6BC-2B3D-282D5D975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API and 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69F34-2E36-FA8B-9377-80E42EC73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9859"/>
            <a:ext cx="8596668" cy="4481503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Products API</a:t>
            </a:r>
          </a:p>
          <a:p>
            <a:pPr lvl="1"/>
            <a:r>
              <a:rPr lang="en-GB" b="1" dirty="0"/>
              <a:t>Update Product</a:t>
            </a:r>
            <a:endParaRPr lang="en-GB" dirty="0"/>
          </a:p>
          <a:p>
            <a:pPr lvl="2"/>
            <a:r>
              <a:rPr lang="en-GB" dirty="0"/>
              <a:t>PUT /</a:t>
            </a:r>
            <a:r>
              <a:rPr lang="en-GB" dirty="0" err="1"/>
              <a:t>api</a:t>
            </a:r>
            <a:r>
              <a:rPr lang="en-GB" dirty="0"/>
              <a:t>/products/{id}</a:t>
            </a:r>
          </a:p>
          <a:p>
            <a:pPr lvl="2"/>
            <a:r>
              <a:rPr lang="en-GB" dirty="0"/>
              <a:t>Content-Type: multipart/form-data</a:t>
            </a:r>
          </a:p>
          <a:p>
            <a:pPr lvl="2"/>
            <a:r>
              <a:rPr lang="en-GB" dirty="0"/>
              <a:t>Body: { name, description, </a:t>
            </a:r>
            <a:r>
              <a:rPr lang="en-GB" dirty="0" err="1"/>
              <a:t>basePrice</a:t>
            </a:r>
            <a:r>
              <a:rPr lang="en-GB" dirty="0"/>
              <a:t>, </a:t>
            </a:r>
            <a:r>
              <a:rPr lang="en-GB" dirty="0" err="1"/>
              <a:t>categoryId</a:t>
            </a:r>
            <a:r>
              <a:rPr lang="en-GB" dirty="0"/>
              <a:t>, image }</a:t>
            </a:r>
          </a:p>
          <a:p>
            <a:pPr lvl="2"/>
            <a:r>
              <a:rPr lang="en-GB" dirty="0"/>
              <a:t>Response: 200 OK with </a:t>
            </a:r>
            <a:r>
              <a:rPr lang="en-GB" dirty="0" err="1"/>
              <a:t>ProductDetailDto</a:t>
            </a:r>
            <a:endParaRPr lang="en-GB" dirty="0"/>
          </a:p>
          <a:p>
            <a:pPr lvl="1"/>
            <a:r>
              <a:rPr lang="en-GB" b="1" dirty="0"/>
              <a:t>Delete Product</a:t>
            </a:r>
            <a:endParaRPr lang="en-GB" dirty="0"/>
          </a:p>
          <a:p>
            <a:pPr lvl="2"/>
            <a:r>
              <a:rPr lang="en-GB" dirty="0"/>
              <a:t>DELETE /</a:t>
            </a:r>
            <a:r>
              <a:rPr lang="en-GB" dirty="0" err="1"/>
              <a:t>api</a:t>
            </a:r>
            <a:r>
              <a:rPr lang="en-GB" dirty="0"/>
              <a:t>/products/{id}</a:t>
            </a:r>
          </a:p>
          <a:p>
            <a:pPr lvl="2"/>
            <a:r>
              <a:rPr lang="en-GB" dirty="0"/>
              <a:t>Response: 204 No Content</a:t>
            </a:r>
          </a:p>
          <a:p>
            <a:r>
              <a:rPr lang="en-GB" b="1" dirty="0"/>
              <a:t>Categories API</a:t>
            </a:r>
          </a:p>
          <a:p>
            <a:pPr lvl="1"/>
            <a:r>
              <a:rPr lang="en-GB" b="1" dirty="0"/>
              <a:t>Create Category</a:t>
            </a:r>
            <a:endParaRPr lang="en-GB" dirty="0"/>
          </a:p>
          <a:p>
            <a:pPr lvl="2"/>
            <a:r>
              <a:rPr lang="en-GB" dirty="0"/>
              <a:t>POST /</a:t>
            </a:r>
            <a:r>
              <a:rPr lang="en-GB" dirty="0" err="1"/>
              <a:t>api</a:t>
            </a:r>
            <a:r>
              <a:rPr lang="en-GB" dirty="0"/>
              <a:t>/categories</a:t>
            </a:r>
          </a:p>
          <a:p>
            <a:pPr lvl="2"/>
            <a:r>
              <a:rPr lang="en-GB" dirty="0"/>
              <a:t>Body: { name, description }</a:t>
            </a:r>
          </a:p>
          <a:p>
            <a:pPr lvl="2"/>
            <a:r>
              <a:rPr lang="en-GB" dirty="0"/>
              <a:t>Response: 201 Created with </a:t>
            </a:r>
            <a:r>
              <a:rPr lang="en-GB" dirty="0" err="1"/>
              <a:t>CategoryDto</a:t>
            </a:r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0140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0F291-6208-26D5-A589-86747F4FE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F7C1C-1A0B-C85A-595F-A83E48FCF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API and 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97F99-5497-F5B2-99F8-C15071C6E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Input Validation Process:</a:t>
            </a:r>
          </a:p>
          <a:p>
            <a:pPr>
              <a:buFont typeface="+mj-lt"/>
              <a:buAutoNum type="arabicPeriod"/>
            </a:pPr>
            <a:r>
              <a:rPr lang="en-GB" dirty="0"/>
              <a:t>HTTP Request arrives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ValidationActionFilter</a:t>
            </a:r>
            <a:r>
              <a:rPr lang="en-GB" dirty="0"/>
              <a:t> intercepts</a:t>
            </a:r>
          </a:p>
          <a:p>
            <a:pPr>
              <a:buFont typeface="+mj-lt"/>
              <a:buAutoNum type="arabicPeriod"/>
            </a:pPr>
            <a:r>
              <a:rPr lang="en-GB" dirty="0"/>
              <a:t>Identifies request model type</a:t>
            </a:r>
          </a:p>
          <a:p>
            <a:pPr>
              <a:buFont typeface="+mj-lt"/>
              <a:buAutoNum type="arabicPeriod"/>
            </a:pPr>
            <a:r>
              <a:rPr lang="en-GB" dirty="0"/>
              <a:t>Retrieves matching validator from DI container</a:t>
            </a:r>
          </a:p>
          <a:p>
            <a:pPr>
              <a:buFont typeface="+mj-lt"/>
              <a:buAutoNum type="arabicPeriod"/>
            </a:pPr>
            <a:r>
              <a:rPr lang="en-GB" dirty="0"/>
              <a:t>Executes validation rules (sync + async)</a:t>
            </a:r>
          </a:p>
          <a:p>
            <a:pPr>
              <a:buFont typeface="+mj-lt"/>
              <a:buAutoNum type="arabicPeriod"/>
            </a:pPr>
            <a:r>
              <a:rPr lang="en-GB" dirty="0"/>
              <a:t>If invalid: Return 400 Bad Request with error details</a:t>
            </a:r>
          </a:p>
          <a:p>
            <a:pPr>
              <a:buFont typeface="+mj-lt"/>
              <a:buAutoNum type="arabicPeriod"/>
            </a:pPr>
            <a:r>
              <a:rPr lang="en-GB" dirty="0"/>
              <a:t>If valid: Pass to controller action</a:t>
            </a:r>
          </a:p>
        </p:txBody>
      </p:sp>
    </p:spTree>
    <p:extLst>
      <p:ext uri="{BB962C8B-B14F-4D97-AF65-F5344CB8AC3E}">
        <p14:creationId xmlns:p14="http://schemas.microsoft.com/office/powerpoint/2010/main" val="3461766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1494-6EDA-13B1-4B97-DEDFC8D4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D3788-9E1C-C27B-935A-B4F37FA5C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API and 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8C83D-BF63-9D9F-AAEC-6EA8FC4EB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Output Data Processing: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Query Execution:</a:t>
            </a:r>
            <a:r>
              <a:rPr lang="en-GB" dirty="0"/>
              <a:t> LINQ queries with filtering/pagination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Inclusion: </a:t>
            </a:r>
            <a:r>
              <a:rPr lang="en-GB" dirty="0"/>
              <a:t>Eager loading with .Include()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Image Encoding: </a:t>
            </a:r>
            <a:r>
              <a:rPr lang="en-GB" dirty="0"/>
              <a:t>Byte array → Base64 string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DTO Mapping: </a:t>
            </a:r>
            <a:r>
              <a:rPr lang="en-GB" dirty="0"/>
              <a:t>Entity → DTO conversion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Caching:</a:t>
            </a:r>
            <a:r>
              <a:rPr lang="en-GB" dirty="0"/>
              <a:t> Store in Redis for repeated access</a:t>
            </a:r>
          </a:p>
        </p:txBody>
      </p:sp>
    </p:spTree>
    <p:extLst>
      <p:ext uri="{BB962C8B-B14F-4D97-AF65-F5344CB8AC3E}">
        <p14:creationId xmlns:p14="http://schemas.microsoft.com/office/powerpoint/2010/main" val="1925131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EF4BE-DFC6-2CF9-77C9-2E3C331CB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1A6DA-E062-E413-700D-74737B608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 Performance &amp;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A46EA-E6FA-6CFB-6FE9-DED2A6732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Caching Strategy:</a:t>
            </a:r>
            <a:endParaRPr lang="en-GB" dirty="0"/>
          </a:p>
          <a:p>
            <a:pPr lvl="1"/>
            <a:r>
              <a:rPr lang="en-GB" b="1" dirty="0"/>
              <a:t>Reduced Database Load: </a:t>
            </a:r>
            <a:r>
              <a:rPr lang="en-GB" dirty="0"/>
              <a:t>Frequently accessed products served from cache</a:t>
            </a:r>
          </a:p>
          <a:p>
            <a:pPr lvl="1"/>
            <a:r>
              <a:rPr lang="en-GB" b="1" dirty="0"/>
              <a:t>Faster Response Times:</a:t>
            </a:r>
            <a:r>
              <a:rPr lang="en-GB" dirty="0"/>
              <a:t> Redis in-memory lookup vs database query</a:t>
            </a:r>
          </a:p>
          <a:p>
            <a:pPr lvl="1"/>
            <a:r>
              <a:rPr lang="en-GB" b="1" dirty="0"/>
              <a:t>Scalability: </a:t>
            </a:r>
            <a:r>
              <a:rPr lang="en-GB" dirty="0"/>
              <a:t>Handles traffic spikes without database overload</a:t>
            </a:r>
          </a:p>
          <a:p>
            <a:pPr lvl="1"/>
            <a:r>
              <a:rPr lang="en-GB" b="1" dirty="0"/>
              <a:t>TTL Management: </a:t>
            </a:r>
            <a:r>
              <a:rPr lang="en-GB" dirty="0"/>
              <a:t>Automatic cache expiration (30 minutes)</a:t>
            </a:r>
          </a:p>
        </p:txBody>
      </p:sp>
    </p:spTree>
    <p:extLst>
      <p:ext uri="{BB962C8B-B14F-4D97-AF65-F5344CB8AC3E}">
        <p14:creationId xmlns:p14="http://schemas.microsoft.com/office/powerpoint/2010/main" val="3182548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CCA54-9052-B52F-9FB8-181512F58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DBDB9-AA13-32EB-5E08-2C0D2D0B2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 Performance &amp;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8D1CD-48C0-6F2C-0EF1-E163B6D63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Database Query Optimization</a:t>
            </a:r>
          </a:p>
          <a:p>
            <a:r>
              <a:rPr lang="en-GB" b="1" dirty="0"/>
              <a:t>Pagination: </a:t>
            </a:r>
            <a:r>
              <a:rPr lang="en-GB" dirty="0"/>
              <a:t>Limits result set size</a:t>
            </a:r>
          </a:p>
          <a:p>
            <a:r>
              <a:rPr lang="en-GB" b="1" dirty="0"/>
              <a:t>Filtering</a:t>
            </a:r>
            <a:r>
              <a:rPr lang="en-GB" dirty="0"/>
              <a:t>: Server-side search term matching</a:t>
            </a:r>
          </a:p>
          <a:p>
            <a:r>
              <a:rPr lang="en-GB" b="1" dirty="0"/>
              <a:t>No-Tracking Queries: </a:t>
            </a:r>
            <a:r>
              <a:rPr lang="en-GB" dirty="0"/>
              <a:t>Reduced memory tracking</a:t>
            </a:r>
          </a:p>
          <a:p>
            <a:r>
              <a:rPr lang="en-GB" b="1" dirty="0"/>
              <a:t>Eager Loading: </a:t>
            </a:r>
            <a:r>
              <a:rPr lang="en-GB" dirty="0"/>
              <a:t>prevent N+1 problem</a:t>
            </a:r>
          </a:p>
          <a:p>
            <a:r>
              <a:rPr lang="en-GB" b="1" dirty="0"/>
              <a:t>Global Query Filters: </a:t>
            </a:r>
            <a:r>
              <a:rPr lang="en-GB" dirty="0"/>
              <a:t>Automatic active record filtering</a:t>
            </a:r>
          </a:p>
        </p:txBody>
      </p:sp>
    </p:spTree>
    <p:extLst>
      <p:ext uri="{BB962C8B-B14F-4D97-AF65-F5344CB8AC3E}">
        <p14:creationId xmlns:p14="http://schemas.microsoft.com/office/powerpoint/2010/main" val="2843884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B5D30-8A3A-F9E0-7E2C-2A52DAA1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68253-EA1C-CB85-2BDB-D54DA386B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6. </a:t>
            </a:r>
            <a:r>
              <a:rPr lang="en-GB" b="1" dirty="0"/>
              <a:t>Postman Collection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7CDB8-EA4C-6808-E2CB-49F112531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Please find file named “</a:t>
            </a:r>
            <a:r>
              <a:rPr lang="en-GB" b="1" dirty="0"/>
              <a:t>E-</a:t>
            </a:r>
            <a:r>
              <a:rPr lang="en-GB" b="1" dirty="0" err="1"/>
              <a:t>commerce.postman_collection.json</a:t>
            </a:r>
            <a:r>
              <a:rPr lang="en-GB" b="1" dirty="0"/>
              <a:t>”</a:t>
            </a:r>
            <a:r>
              <a:rPr lang="en-GB" b="1" i="1" dirty="0"/>
              <a:t> </a:t>
            </a:r>
            <a:r>
              <a:rPr lang="en-GB" dirty="0"/>
              <a:t>in root of this repository.</a:t>
            </a:r>
            <a:endParaRPr lang="en-GB" b="1" i="1" dirty="0"/>
          </a:p>
        </p:txBody>
      </p:sp>
    </p:spTree>
    <p:extLst>
      <p:ext uri="{BB962C8B-B14F-4D97-AF65-F5344CB8AC3E}">
        <p14:creationId xmlns:p14="http://schemas.microsoft.com/office/powerpoint/2010/main" val="2156301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BBA85-E772-B0F1-C548-2784DE3FC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88962-03A7-D0EF-F996-FB50977AE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7. </a:t>
            </a:r>
            <a:r>
              <a:rPr lang="en-GB" b="1" dirty="0"/>
              <a:t>Environment Variables &amp; Configuration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15AA5A-1162-D03C-6BCC-7A5C6DEB0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188600"/>
              </p:ext>
            </p:extLst>
          </p:nvPr>
        </p:nvGraphicFramePr>
        <p:xfrm>
          <a:off x="677334" y="2790513"/>
          <a:ext cx="919280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9890">
                  <a:extLst>
                    <a:ext uri="{9D8B030D-6E8A-4147-A177-3AD203B41FA5}">
                      <a16:colId xmlns:a16="http://schemas.microsoft.com/office/drawing/2014/main" val="4097719189"/>
                    </a:ext>
                  </a:extLst>
                </a:gridCol>
                <a:gridCol w="3119717">
                  <a:extLst>
                    <a:ext uri="{9D8B030D-6E8A-4147-A177-3AD203B41FA5}">
                      <a16:colId xmlns:a16="http://schemas.microsoft.com/office/drawing/2014/main" val="329953110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99318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824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ConnectionStrings:DefaultConnection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Host=localhost;...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PostgreSQL connection string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766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ConnectionStrings:Redis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localhost:6379,...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Redis cache connection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049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FrontendUrl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http://localhost:5173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CORS allowed origin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68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ASPNETCORE_ENVIRONMENT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Development or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Runtime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747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992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79FE4-F875-2832-B08F-57306448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0DAA8-0957-8E75-9F16-274533B8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7. </a:t>
            </a:r>
            <a:r>
              <a:rPr lang="en-GB" b="1" dirty="0"/>
              <a:t>Environment Variables &amp; Configuration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34E5F-5F07-4C78-6F16-BE61453D4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013513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Setup Instructions</a:t>
            </a:r>
          </a:p>
          <a:p>
            <a:pPr>
              <a:buFont typeface="+mj-lt"/>
              <a:buAutoNum type="arabicPeriod"/>
            </a:pPr>
            <a:r>
              <a:rPr lang="en-GB" dirty="0"/>
              <a:t>Clone the repository and restore as a normal .NET project</a:t>
            </a:r>
          </a:p>
          <a:p>
            <a:pPr>
              <a:buFont typeface="+mj-lt"/>
              <a:buAutoNum type="arabicPeriod"/>
            </a:pPr>
            <a:r>
              <a:rPr lang="en-GB" dirty="0"/>
              <a:t>Run the project with “https” option, the project should start hosting at port 7296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5E446-8BBF-87C3-94D1-EA30045D6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783" y="3546181"/>
            <a:ext cx="6049219" cy="2867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FAEEC8-EC64-8D3E-2908-F3AB84F7A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709" y="4605044"/>
            <a:ext cx="1374445" cy="74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21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5269-032C-7F8C-B177-310370044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6A896-22C8-BE88-9D0F-0EBF3FD6F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0613"/>
          </a:xfrm>
        </p:spPr>
        <p:txBody>
          <a:bodyPr/>
          <a:lstStyle/>
          <a:p>
            <a:r>
              <a:rPr lang="en-GB" dirty="0"/>
              <a:t>8. </a:t>
            </a:r>
            <a:r>
              <a:rPr lang="en-GB" b="1" dirty="0"/>
              <a:t>Limitations &amp; Future Improvements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B960-5B73-CD89-1FB8-C7FA6FCE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70213"/>
            <a:ext cx="9013513" cy="460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Current</a:t>
            </a:r>
            <a:r>
              <a:rPr lang="en-GB"/>
              <a:t> </a:t>
            </a:r>
            <a:r>
              <a:rPr lang="en-GB" dirty="0"/>
              <a:t>limitations: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3B6B6D-F5DA-0957-6A26-FFEC087C2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816792"/>
              </p:ext>
            </p:extLst>
          </p:nvPr>
        </p:nvGraphicFramePr>
        <p:xfrm>
          <a:off x="677331" y="1930400"/>
          <a:ext cx="9013512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7798">
                  <a:extLst>
                    <a:ext uri="{9D8B030D-6E8A-4147-A177-3AD203B41FA5}">
                      <a16:colId xmlns:a16="http://schemas.microsoft.com/office/drawing/2014/main" val="1943469958"/>
                    </a:ext>
                  </a:extLst>
                </a:gridCol>
                <a:gridCol w="4025397">
                  <a:extLst>
                    <a:ext uri="{9D8B030D-6E8A-4147-A177-3AD203B41FA5}">
                      <a16:colId xmlns:a16="http://schemas.microsoft.com/office/drawing/2014/main" val="3555623721"/>
                    </a:ext>
                  </a:extLst>
                </a:gridCol>
                <a:gridCol w="1380317">
                  <a:extLst>
                    <a:ext uri="{9D8B030D-6E8A-4147-A177-3AD203B41FA5}">
                      <a16:colId xmlns:a16="http://schemas.microsoft.com/office/drawing/2014/main" val="496786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Limitation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Impact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Severity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222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Lack of Inventory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No stock tracking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976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Simple search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search LIKE name &amp; description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016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No Authentication/Authorization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Anyone can modify products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385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Static Pricing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No discounts, promotions, or dynamic pricing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24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Limited Product Attributes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Basic name/description only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746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 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Vulnerable to abuse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10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Minimal Error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Generic error 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347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Non structured response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 for response handling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69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logging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Difficult to debug errors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005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 Internationalization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Single language support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9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 File Storage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Images stored in database (BYTEA)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339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610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6D951-3FD4-6F2F-D3EF-9BDC1801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0335B-D958-7A2D-BA3A-BC45C969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8. </a:t>
            </a:r>
            <a:r>
              <a:rPr lang="en-GB" b="1" dirty="0"/>
              <a:t>Limitations &amp; Future Improvements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319D7-924A-0948-A4A9-1D9924DD9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Future improvements</a:t>
            </a:r>
          </a:p>
          <a:p>
            <a:r>
              <a:rPr lang="en-GB" dirty="0"/>
              <a:t>Add authentication &amp; authorization</a:t>
            </a:r>
          </a:p>
          <a:p>
            <a:r>
              <a:rPr lang="en-GB" dirty="0"/>
              <a:t>Inventory management system</a:t>
            </a:r>
          </a:p>
          <a:p>
            <a:r>
              <a:rPr lang="en-GB" dirty="0"/>
              <a:t>Product attributes &amp; extensions</a:t>
            </a:r>
          </a:p>
          <a:p>
            <a:r>
              <a:rPr lang="en-GB" dirty="0"/>
              <a:t>Pricing &amp; promotions</a:t>
            </a:r>
          </a:p>
          <a:p>
            <a:r>
              <a:rPr lang="en-GB" dirty="0"/>
              <a:t>Cloud file storage</a:t>
            </a:r>
          </a:p>
          <a:p>
            <a:r>
              <a:rPr lang="en-GB" dirty="0"/>
              <a:t>Rate limiting</a:t>
            </a:r>
          </a:p>
          <a:p>
            <a:r>
              <a:rPr lang="en-GB" dirty="0"/>
              <a:t>Search optimization </a:t>
            </a:r>
          </a:p>
        </p:txBody>
      </p:sp>
    </p:spTree>
    <p:extLst>
      <p:ext uri="{BB962C8B-B14F-4D97-AF65-F5344CB8AC3E}">
        <p14:creationId xmlns:p14="http://schemas.microsoft.com/office/powerpoint/2010/main" val="24507760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148</TotalTime>
  <Words>976</Words>
  <Application>Microsoft Office PowerPoint</Application>
  <PresentationFormat>Widescreen</PresentationFormat>
  <Paragraphs>178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Wingdings 3</vt:lpstr>
      <vt:lpstr>Facet</vt:lpstr>
      <vt:lpstr>E-commerce Backend</vt:lpstr>
      <vt:lpstr>1. Approach the Requirement</vt:lpstr>
      <vt:lpstr>1. Approach the Requirement</vt:lpstr>
      <vt:lpstr>2. Database Design</vt:lpstr>
      <vt:lpstr>2. Database Design</vt:lpstr>
      <vt:lpstr>2. Database Design</vt:lpstr>
      <vt:lpstr>3. Technology Stack Components</vt:lpstr>
      <vt:lpstr>4. API and Data Handling</vt:lpstr>
      <vt:lpstr>4. API and Data Handling</vt:lpstr>
      <vt:lpstr>4. API and Data Handling</vt:lpstr>
      <vt:lpstr>4. API and Data Handling</vt:lpstr>
      <vt:lpstr>4. API and Data Handling</vt:lpstr>
      <vt:lpstr>5. Performance &amp; Scalability</vt:lpstr>
      <vt:lpstr>5. Performance &amp; Scalability</vt:lpstr>
      <vt:lpstr>6. Postman Collection</vt:lpstr>
      <vt:lpstr>7. Environment Variables &amp; Configuration</vt:lpstr>
      <vt:lpstr>7. Environment Variables &amp; Configuration</vt:lpstr>
      <vt:lpstr>8. Limitations &amp; Future Improvements</vt:lpstr>
      <vt:lpstr>8. Limitations &amp; 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Đặng Phương Tân</dc:creator>
  <cp:lastModifiedBy>Đặng Phương Tân</cp:lastModifiedBy>
  <cp:revision>50</cp:revision>
  <dcterms:created xsi:type="dcterms:W3CDTF">2025-11-26T09:22:34Z</dcterms:created>
  <dcterms:modified xsi:type="dcterms:W3CDTF">2025-11-26T13:19:29Z</dcterms:modified>
</cp:coreProperties>
</file>